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0"/>
  </p:notesMasterIdLst>
  <p:sldIdLst>
    <p:sldId id="256" r:id="rId2"/>
    <p:sldId id="285" r:id="rId3"/>
    <p:sldId id="257" r:id="rId4"/>
    <p:sldId id="258" r:id="rId5"/>
    <p:sldId id="262" r:id="rId6"/>
    <p:sldId id="271" r:id="rId7"/>
    <p:sldId id="259" r:id="rId8"/>
    <p:sldId id="260" r:id="rId9"/>
    <p:sldId id="265" r:id="rId10"/>
    <p:sldId id="272" r:id="rId11"/>
    <p:sldId id="273" r:id="rId12"/>
    <p:sldId id="274" r:id="rId13"/>
    <p:sldId id="275" r:id="rId14"/>
    <p:sldId id="276" r:id="rId15"/>
    <p:sldId id="277" r:id="rId16"/>
    <p:sldId id="278" r:id="rId17"/>
    <p:sldId id="279" r:id="rId18"/>
    <p:sldId id="266" r:id="rId19"/>
    <p:sldId id="281" r:id="rId20"/>
    <p:sldId id="267" r:id="rId21"/>
    <p:sldId id="282" r:id="rId22"/>
    <p:sldId id="283" r:id="rId23"/>
    <p:sldId id="284" r:id="rId24"/>
    <p:sldId id="286" r:id="rId25"/>
    <p:sldId id="288" r:id="rId26"/>
    <p:sldId id="270" r:id="rId27"/>
    <p:sldId id="287" r:id="rId28"/>
    <p:sldId id="26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9542" autoAdjust="0"/>
  </p:normalViewPr>
  <p:slideViewPr>
    <p:cSldViewPr snapToGrid="0">
      <p:cViewPr varScale="1">
        <p:scale>
          <a:sx n="109" d="100"/>
          <a:sy n="109" d="100"/>
        </p:scale>
        <p:origin x="672" y="114"/>
      </p:cViewPr>
      <p:guideLst>
        <p:guide orient="horz" pos="2160"/>
        <p:guide pos="3840"/>
      </p:guideLst>
    </p:cSldViewPr>
  </p:slideViewPr>
  <p:notesTextViewPr>
    <p:cViewPr>
      <p:scale>
        <a:sx n="1" d="1"/>
        <a:sy n="1" d="1"/>
      </p:scale>
      <p:origin x="0" y="0"/>
    </p:cViewPr>
  </p:notesTextViewPr>
  <p:notesViewPr>
    <p:cSldViewPr snapToGrid="0">
      <p:cViewPr varScale="1">
        <p:scale>
          <a:sx n="88" d="100"/>
          <a:sy n="88" d="100"/>
        </p:scale>
        <p:origin x="-382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521DF1-A3AE-49BF-86A1-AB8F636961C9}" type="datetimeFigureOut">
              <a:rPr lang="en-IN" smtClean="0"/>
              <a:t>28-05-2022</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B6F6B0-D553-4DF2-82BB-6FDDFE0DE6A0}" type="slidenum">
              <a:rPr lang="en-IN" smtClean="0"/>
              <a:t>‹#›</a:t>
            </a:fld>
            <a:endParaRPr lang="en-IN"/>
          </a:p>
        </p:txBody>
      </p:sp>
    </p:spTree>
    <p:extLst>
      <p:ext uri="{BB962C8B-B14F-4D97-AF65-F5344CB8AC3E}">
        <p14:creationId xmlns:p14="http://schemas.microsoft.com/office/powerpoint/2010/main" val="2826711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68B6F6B0-D553-4DF2-82BB-6FDDFE0DE6A0}" type="slidenum">
              <a:rPr lang="en-IN" smtClean="0"/>
              <a:t>21</a:t>
            </a:fld>
            <a:endParaRPr lang="en-IN"/>
          </a:p>
        </p:txBody>
      </p:sp>
    </p:spTree>
    <p:extLst>
      <p:ext uri="{BB962C8B-B14F-4D97-AF65-F5344CB8AC3E}">
        <p14:creationId xmlns:p14="http://schemas.microsoft.com/office/powerpoint/2010/main" val="2064409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4"/>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602910-9962-4E65-A460-934ADAD2A4A7}" type="datetimeFigureOut">
              <a:rPr lang="en-IN" smtClean="0"/>
              <a:t>28-05-2022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3287939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602910-9962-4E65-A460-934ADAD2A4A7}" type="datetimeFigureOut">
              <a:rPr lang="en-IN" smtClean="0"/>
              <a:t>28-05-2022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3498438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9"/>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02910-9962-4E65-A460-934ADAD2A4A7}" type="datetimeFigureOut">
              <a:rPr lang="en-IN" smtClean="0"/>
              <a:t>28-05-2022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254727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128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82296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C602910-9962-4E65-A460-934ADAD2A4A7}" type="datetimeFigureOut">
              <a:rPr lang="en-IN" smtClean="0"/>
              <a:t>28-05-2022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769815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73"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C602910-9962-4E65-A460-934ADAD2A4A7}" type="datetimeFigureOut">
              <a:rPr lang="en-IN" smtClean="0"/>
              <a:t>28-05-2022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3727490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C602910-9962-4E65-A460-934ADAD2A4A7}" type="datetimeFigureOut">
              <a:rPr lang="en-IN" smtClean="0"/>
              <a:t>28-05-2022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3794490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02910-9962-4E65-A460-934ADAD2A4A7}" type="datetimeFigureOut">
              <a:rPr lang="en-IN" smtClean="0"/>
              <a:t>28-05-2022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749477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9"/>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02910-9962-4E65-A460-934ADAD2A4A7}" type="datetimeFigureOut">
              <a:rPr lang="en-IN" smtClean="0"/>
              <a:t>28-05-2022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420439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02910-9962-4E65-A460-934ADAD2A4A7}" type="datetimeFigureOut">
              <a:rPr lang="en-IN" smtClean="0"/>
              <a:t>28-05-2022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2590439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602910-9962-4E65-A460-934ADAD2A4A7}" type="datetimeFigureOut">
              <a:rPr lang="en-IN" smtClean="0"/>
              <a:t>28-05-2022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307318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7"/>
            <a:ext cx="36576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12800" y="274647"/>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602910-9962-4E65-A460-934ADAD2A4A7}" type="datetimeFigureOut">
              <a:rPr lang="en-IN" smtClean="0"/>
              <a:t>28-05-2022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613020F-5AEA-4956-971F-C3682118C446}" type="slidenum">
              <a:rPr lang="en-IN" smtClean="0"/>
              <a:t>‹#›</a:t>
            </a:fld>
            <a:endParaRPr lang="en-IN"/>
          </a:p>
        </p:txBody>
      </p:sp>
    </p:spTree>
    <p:extLst>
      <p:ext uri="{BB962C8B-B14F-4D97-AF65-F5344CB8AC3E}">
        <p14:creationId xmlns:p14="http://schemas.microsoft.com/office/powerpoint/2010/main" val="1574690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9"/>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602910-9962-4E65-A460-934ADAD2A4A7}" type="datetimeFigureOut">
              <a:rPr lang="en-IN" smtClean="0"/>
              <a:t>28-05-2022</a:t>
            </a:fld>
            <a:endParaRPr lang="en-IN"/>
          </a:p>
        </p:txBody>
      </p:sp>
      <p:sp>
        <p:nvSpPr>
          <p:cNvPr id="5" name="Footer Placeholder 4"/>
          <p:cNvSpPr>
            <a:spLocks noGrp="1"/>
          </p:cNvSpPr>
          <p:nvPr>
            <p:ph type="ftr" sz="quarter" idx="3"/>
          </p:nvPr>
        </p:nvSpPr>
        <p:spPr>
          <a:xfrm>
            <a:off x="4165600" y="6356359"/>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9"/>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3020F-5AEA-4956-971F-C3682118C446}" type="slidenum">
              <a:rPr lang="en-IN" smtClean="0"/>
              <a:t>‹#›</a:t>
            </a:fld>
            <a:endParaRPr lang="en-IN"/>
          </a:p>
        </p:txBody>
      </p:sp>
    </p:spTree>
    <p:extLst>
      <p:ext uri="{BB962C8B-B14F-4D97-AF65-F5344CB8AC3E}">
        <p14:creationId xmlns:p14="http://schemas.microsoft.com/office/powerpoint/2010/main" val="194281365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30184-7663-4301-93AD-FAABF0792D15}"/>
              </a:ext>
            </a:extLst>
          </p:cNvPr>
          <p:cNvSpPr>
            <a:spLocks noGrp="1"/>
          </p:cNvSpPr>
          <p:nvPr>
            <p:ph type="ctrTitle"/>
          </p:nvPr>
        </p:nvSpPr>
        <p:spPr>
          <a:xfrm>
            <a:off x="1591408" y="1248508"/>
            <a:ext cx="9513277" cy="1266092"/>
          </a:xfrm>
        </p:spPr>
        <p:txBody>
          <a:bodyPr>
            <a:normAutofit/>
          </a:bodyPr>
          <a:lstStyle/>
          <a:p>
            <a:pPr algn="ctr"/>
            <a:r>
              <a:rPr lang="en-US" sz="3200" b="1" dirty="0"/>
              <a:t>PREDICTION OF EMPLOYEE ATTRITION USING MACHINE LEARNING &amp; PYTHON</a:t>
            </a:r>
            <a:endParaRPr lang="en-IN" sz="3200" b="1" dirty="0"/>
          </a:p>
        </p:txBody>
      </p:sp>
      <p:sp>
        <p:nvSpPr>
          <p:cNvPr id="3" name="Subtitle 2">
            <a:extLst>
              <a:ext uri="{FF2B5EF4-FFF2-40B4-BE49-F238E27FC236}">
                <a16:creationId xmlns:a16="http://schemas.microsoft.com/office/drawing/2014/main" id="{1E2CD0DF-BEFF-449C-8DB7-3C81C0903165}"/>
              </a:ext>
            </a:extLst>
          </p:cNvPr>
          <p:cNvSpPr>
            <a:spLocks noGrp="1"/>
          </p:cNvSpPr>
          <p:nvPr>
            <p:ph type="subTitle" idx="1"/>
          </p:nvPr>
        </p:nvSpPr>
        <p:spPr>
          <a:xfrm>
            <a:off x="588937" y="2778369"/>
            <a:ext cx="11484244" cy="2263797"/>
          </a:xfrm>
        </p:spPr>
        <p:txBody>
          <a:bodyPr>
            <a:normAutofit fontScale="85000" lnSpcReduction="20000"/>
          </a:bodyPr>
          <a:lstStyle/>
          <a:p>
            <a:r>
              <a:rPr lang="en-US" b="1" u="sng" dirty="0">
                <a:solidFill>
                  <a:schemeClr val="tx1"/>
                </a:solidFill>
              </a:rPr>
              <a:t>BATCH NUMBER-27 </a:t>
            </a:r>
          </a:p>
          <a:p>
            <a:r>
              <a:rPr lang="en-US" b="1" dirty="0">
                <a:solidFill>
                  <a:schemeClr val="tx1"/>
                </a:solidFill>
              </a:rPr>
              <a:t>P HEMALATHA -211419104100</a:t>
            </a:r>
          </a:p>
          <a:p>
            <a:r>
              <a:rPr lang="en-US" b="1" dirty="0">
                <a:solidFill>
                  <a:schemeClr val="tx1"/>
                </a:solidFill>
              </a:rPr>
              <a:t>S KAVYA             -211419104135</a:t>
            </a:r>
          </a:p>
          <a:p>
            <a:r>
              <a:rPr lang="en-US" b="1" u="sng" dirty="0">
                <a:solidFill>
                  <a:schemeClr val="tx1"/>
                </a:solidFill>
              </a:rPr>
              <a:t>GUIDE NAME:  </a:t>
            </a:r>
          </a:p>
          <a:p>
            <a:r>
              <a:rPr lang="en-US" b="1" dirty="0">
                <a:solidFill>
                  <a:schemeClr val="tx1"/>
                </a:solidFill>
              </a:rPr>
              <a:t>MRS.A KANCHANA M.E</a:t>
            </a:r>
          </a:p>
        </p:txBody>
      </p:sp>
    </p:spTree>
    <p:extLst>
      <p:ext uri="{BB962C8B-B14F-4D97-AF65-F5344CB8AC3E}">
        <p14:creationId xmlns:p14="http://schemas.microsoft.com/office/powerpoint/2010/main" val="1060717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3" name="Content Placeholder 2"/>
          <p:cNvSpPr>
            <a:spLocks noGrp="1"/>
          </p:cNvSpPr>
          <p:nvPr>
            <p:ph idx="1"/>
          </p:nvPr>
        </p:nvSpPr>
        <p:spPr>
          <a:xfrm>
            <a:off x="594102" y="1685447"/>
            <a:ext cx="10972800" cy="4525963"/>
          </a:xfrm>
        </p:spPr>
        <p:txBody>
          <a:bodyPr>
            <a:normAutofit/>
          </a:bodyPr>
          <a:lstStyle/>
          <a:p>
            <a:r>
              <a:rPr lang="en-US" sz="2800" dirty="0">
                <a:latin typeface="Times New Roman" panose="02020603050405020304" pitchFamily="18" charset="0"/>
                <a:cs typeface="Times New Roman" panose="02020603050405020304" pitchFamily="18" charset="0"/>
              </a:rPr>
              <a:t>Employees are the most important part of an organization. Successful employees meet deadlines, make sales, and build the brand through positive customer interactions.</a:t>
            </a:r>
          </a:p>
          <a:p>
            <a:r>
              <a:rPr lang="en-US" sz="2800" dirty="0">
                <a:latin typeface="Times New Roman" panose="02020603050405020304" pitchFamily="18" charset="0"/>
                <a:cs typeface="Times New Roman" panose="02020603050405020304" pitchFamily="18" charset="0"/>
              </a:rPr>
              <a:t>Employee attrition is a major cost to an organization and predicting such attritions is the most important requirement of the Human Resources department in many organizations. In this problem, Our task is to predict the attrition rate of employees of an organization</a:t>
            </a: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65113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78BD9-A64C-4D3C-A1C8-FAB6672E5A82}"/>
              </a:ext>
            </a:extLst>
          </p:cNvPr>
          <p:cNvSpPr>
            <a:spLocks noGrp="1"/>
          </p:cNvSpPr>
          <p:nvPr>
            <p:ph type="title"/>
          </p:nvPr>
        </p:nvSpPr>
        <p:spPr>
          <a:xfrm>
            <a:off x="2895600" y="439615"/>
            <a:ext cx="4876800" cy="852854"/>
          </a:xfrm>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08280A94-2A14-408C-8970-911FC7BB2A16}"/>
              </a:ext>
            </a:extLst>
          </p:cNvPr>
          <p:cNvSpPr>
            <a:spLocks noGrp="1"/>
          </p:cNvSpPr>
          <p:nvPr>
            <p:ph idx="1"/>
          </p:nvPr>
        </p:nvSpPr>
        <p:spPr>
          <a:xfrm>
            <a:off x="290146" y="1441939"/>
            <a:ext cx="11597054" cy="5143500"/>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Employee attrition is when an employee leaves the company through any method, including voluntary resignations, layoffs, failure to return from a leave of absence, or even illness or death.</a:t>
            </a:r>
          </a:p>
          <a:p>
            <a:pPr algn="just"/>
            <a:r>
              <a:rPr lang="en-US" dirty="0">
                <a:latin typeface="Times New Roman" panose="02020603050405020304" pitchFamily="18" charset="0"/>
                <a:cs typeface="Times New Roman" panose="02020603050405020304" pitchFamily="18" charset="0"/>
              </a:rPr>
              <a:t>Every organization has its own productivity and strength which stands on the legs of the employees. </a:t>
            </a:r>
          </a:p>
          <a:p>
            <a:pPr algn="just"/>
            <a:r>
              <a:rPr lang="en-US" dirty="0">
                <a:latin typeface="Times New Roman" panose="02020603050405020304" pitchFamily="18" charset="0"/>
                <a:cs typeface="Times New Roman" panose="02020603050405020304" pitchFamily="18" charset="0"/>
              </a:rPr>
              <a:t>Keeping regular employee is a great challenge for all organization in the competitive world. </a:t>
            </a:r>
          </a:p>
          <a:p>
            <a:pPr algn="just"/>
            <a:r>
              <a:rPr lang="en-US" dirty="0">
                <a:latin typeface="Times New Roman" panose="02020603050405020304" pitchFamily="18" charset="0"/>
                <a:cs typeface="Times New Roman" panose="02020603050405020304" pitchFamily="18" charset="0"/>
              </a:rPr>
              <a:t>Employee Attrition is one of the biggest business problems in HR Analytics. </a:t>
            </a:r>
          </a:p>
          <a:p>
            <a:pPr algn="just"/>
            <a:r>
              <a:rPr lang="en-US" dirty="0">
                <a:latin typeface="Times New Roman" panose="02020603050405020304" pitchFamily="18" charset="0"/>
                <a:cs typeface="Times New Roman" panose="02020603050405020304" pitchFamily="18" charset="0"/>
              </a:rPr>
              <a:t>Predicting whether a particular employee may leave or not will help the company to make preventive decisions. </a:t>
            </a:r>
          </a:p>
          <a:p>
            <a:pPr algn="just"/>
            <a:r>
              <a:rPr lang="en-US" dirty="0">
                <a:latin typeface="Times New Roman" panose="02020603050405020304" pitchFamily="18" charset="0"/>
                <a:cs typeface="Times New Roman" panose="02020603050405020304" pitchFamily="18" charset="0"/>
              </a:rPr>
              <a:t>Companies invest a lot in the training of the employees keeping in mind the returns they would provide to the company in the future. </a:t>
            </a:r>
          </a:p>
          <a:p>
            <a:pPr algn="just"/>
            <a:r>
              <a:rPr lang="en-US" dirty="0">
                <a:latin typeface="Times New Roman" panose="02020603050405020304" pitchFamily="18" charset="0"/>
                <a:cs typeface="Times New Roman" panose="02020603050405020304" pitchFamily="18" charset="0"/>
              </a:rPr>
              <a:t>If an employee leaves the company, it is the loss of opportunity cost to the company. </a:t>
            </a:r>
          </a:p>
          <a:p>
            <a:pPr algn="just"/>
            <a:r>
              <a:rPr lang="en-US" dirty="0">
                <a:latin typeface="Times New Roman" panose="02020603050405020304" pitchFamily="18" charset="0"/>
                <a:cs typeface="Times New Roman" panose="02020603050405020304" pitchFamily="18" charset="0"/>
              </a:rPr>
              <a:t>These study interpreters the employee’s attrition rate through the related attributes like Age, Monthly income, overtime etc.. affect the attrition largely.</a:t>
            </a:r>
          </a:p>
          <a:p>
            <a:pPr algn="just"/>
            <a:r>
              <a:rPr lang="en-US" dirty="0">
                <a:latin typeface="Times New Roman" panose="02020603050405020304" pitchFamily="18" charset="0"/>
                <a:cs typeface="Times New Roman" panose="02020603050405020304" pitchFamily="18" charset="0"/>
              </a:rPr>
              <a:t>This project works on employee attrition prediction using machine learning by random forest algorithm.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939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1CF2-F42E-4696-ADAA-7D0D2278FD21}"/>
              </a:ext>
            </a:extLst>
          </p:cNvPr>
          <p:cNvSpPr>
            <a:spLocks noGrp="1"/>
          </p:cNvSpPr>
          <p:nvPr>
            <p:ph type="title"/>
          </p:nvPr>
        </p:nvSpPr>
        <p:spPr>
          <a:xfrm>
            <a:off x="2895600" y="764373"/>
            <a:ext cx="5597769" cy="484135"/>
          </a:xfrm>
        </p:spPr>
        <p:txBody>
          <a:bodyPr>
            <a:normAutofit fontScale="90000"/>
          </a:bodyPr>
          <a:lstStyle/>
          <a:p>
            <a:r>
              <a:rPr lang="en-US" dirty="0"/>
              <a:t>INTRODUCTION</a:t>
            </a:r>
            <a:endParaRPr lang="en-IN" dirty="0"/>
          </a:p>
        </p:txBody>
      </p:sp>
      <p:sp>
        <p:nvSpPr>
          <p:cNvPr id="3" name="Content Placeholder 2">
            <a:extLst>
              <a:ext uri="{FF2B5EF4-FFF2-40B4-BE49-F238E27FC236}">
                <a16:creationId xmlns:a16="http://schemas.microsoft.com/office/drawing/2014/main" id="{1846E428-EBB8-47A5-9DFE-F142EDFBCE06}"/>
              </a:ext>
            </a:extLst>
          </p:cNvPr>
          <p:cNvSpPr>
            <a:spLocks noGrp="1"/>
          </p:cNvSpPr>
          <p:nvPr>
            <p:ph idx="1"/>
          </p:nvPr>
        </p:nvSpPr>
        <p:spPr>
          <a:xfrm>
            <a:off x="685800" y="1529862"/>
            <a:ext cx="10820400" cy="468882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Employee attrition is also known as </a:t>
            </a:r>
            <a:r>
              <a:rPr lang="en-US" dirty="0" err="1">
                <a:latin typeface="Times New Roman" panose="02020603050405020304" pitchFamily="18" charset="0"/>
                <a:cs typeface="Times New Roman" panose="02020603050405020304" pitchFamily="18" charset="0"/>
              </a:rPr>
              <a:t>Labour</a:t>
            </a:r>
            <a:r>
              <a:rPr lang="en-US" dirty="0">
                <a:latin typeface="Times New Roman" panose="02020603050405020304" pitchFamily="18" charset="0"/>
                <a:cs typeface="Times New Roman" panose="02020603050405020304" pitchFamily="18" charset="0"/>
              </a:rPr>
              <a:t>  attrition.</a:t>
            </a:r>
          </a:p>
          <a:p>
            <a:pPr algn="just"/>
            <a:r>
              <a:rPr lang="en-US" dirty="0">
                <a:latin typeface="Times New Roman" panose="02020603050405020304" pitchFamily="18" charset="0"/>
                <a:cs typeface="Times New Roman" panose="02020603050405020304" pitchFamily="18" charset="0"/>
              </a:rPr>
              <a:t>Attrition defined as employment loss such as sudden resignation, personal health , or other similar reasons.</a:t>
            </a:r>
          </a:p>
          <a:p>
            <a:pPr algn="just"/>
            <a:r>
              <a:rPr lang="en-US" dirty="0">
                <a:latin typeface="Times New Roman" panose="02020603050405020304" pitchFamily="18" charset="0"/>
                <a:cs typeface="Times New Roman" panose="02020603050405020304" pitchFamily="18" charset="0"/>
              </a:rPr>
              <a:t>Losing an talented and well trained employee drastically effects the organization regarding in making an employee more skillful.</a:t>
            </a:r>
          </a:p>
          <a:p>
            <a:pPr algn="just"/>
            <a:r>
              <a:rPr lang="en-US" dirty="0">
                <a:latin typeface="Times New Roman" panose="02020603050405020304" pitchFamily="18" charset="0"/>
                <a:cs typeface="Times New Roman" panose="02020603050405020304" pitchFamily="18" charset="0"/>
              </a:rPr>
              <a:t>The attrition rate tends to vary from skilled and unskilled </a:t>
            </a:r>
            <a:r>
              <a:rPr lang="en-US" dirty="0" err="1">
                <a:latin typeface="Times New Roman" panose="02020603050405020304" pitchFamily="18" charset="0"/>
                <a:cs typeface="Times New Roman" panose="02020603050405020304" pitchFamily="18" charset="0"/>
              </a:rPr>
              <a:t>labours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Whenever there is a hiring of new employee then at that period of time there is increase in cost of recruitment and training.</a:t>
            </a:r>
          </a:p>
          <a:p>
            <a:pPr algn="just"/>
            <a:r>
              <a:rPr lang="en-US" dirty="0">
                <a:latin typeface="Times New Roman" panose="02020603050405020304" pitchFamily="18" charset="0"/>
                <a:cs typeface="Times New Roman" panose="02020603050405020304" pitchFamily="18" charset="0"/>
              </a:rPr>
              <a:t>It is the keen responsibility of the HR manager to hire a well natured , faithful, trained and workaholic employees are required to run a successful organization.</a:t>
            </a:r>
          </a:p>
          <a:p>
            <a:pPr algn="just"/>
            <a:r>
              <a:rPr lang="en-US" dirty="0">
                <a:latin typeface="Times New Roman" panose="02020603050405020304" pitchFamily="18" charset="0"/>
                <a:cs typeface="Times New Roman" panose="02020603050405020304" pitchFamily="18" charset="0"/>
              </a:rPr>
              <a:t>The employee should have a best knowledge about his work which is assigned to him so as to upgrade the company abundantly.</a:t>
            </a:r>
          </a:p>
          <a:p>
            <a:pPr algn="just"/>
            <a:r>
              <a:rPr lang="en-US" dirty="0">
                <a:latin typeface="Times New Roman" panose="02020603050405020304" pitchFamily="18" charset="0"/>
                <a:cs typeface="Times New Roman" panose="02020603050405020304" pitchFamily="18" charset="0"/>
              </a:rPr>
              <a:t>By keeping aspect of all these possibilities we are providing preventive techniques that are required to decrease the attrition rate and update it to Manager.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724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BF628-E7DC-4A63-9ADE-F806E291430E}"/>
              </a:ext>
            </a:extLst>
          </p:cNvPr>
          <p:cNvSpPr>
            <a:spLocks noGrp="1"/>
          </p:cNvSpPr>
          <p:nvPr>
            <p:ph type="title"/>
          </p:nvPr>
        </p:nvSpPr>
        <p:spPr>
          <a:xfrm>
            <a:off x="123986" y="1432607"/>
            <a:ext cx="5618136" cy="829159"/>
          </a:xfrm>
        </p:spPr>
        <p:txBody>
          <a:bodyPr>
            <a:normAutofit/>
          </a:bodyPr>
          <a:lstStyle/>
          <a:p>
            <a:r>
              <a:rPr lang="en-US" sz="2000" dirty="0">
                <a:latin typeface="Times New Roman" pitchFamily="18" charset="0"/>
                <a:cs typeface="Times New Roman" pitchFamily="18" charset="0"/>
              </a:rPr>
              <a:t>1.HOW TO REDUCE EMPLOYEE CHURN?</a:t>
            </a:r>
            <a:endParaRPr lang="en-IN" sz="2000" dirty="0">
              <a:latin typeface="Times New Roman" pitchFamily="18" charset="0"/>
              <a:cs typeface="Times New Roman" pitchFamily="18" charset="0"/>
            </a:endParaRPr>
          </a:p>
        </p:txBody>
      </p:sp>
      <p:pic>
        <p:nvPicPr>
          <p:cNvPr id="5" name="Content Placeholder 4">
            <a:extLst>
              <a:ext uri="{FF2B5EF4-FFF2-40B4-BE49-F238E27FC236}">
                <a16:creationId xmlns:a16="http://schemas.microsoft.com/office/drawing/2014/main" id="{764EF791-E586-48CF-9DCB-C63760C27E3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47614" y="2170353"/>
            <a:ext cx="2998921" cy="1476215"/>
          </a:xfrm>
        </p:spPr>
      </p:pic>
      <p:sp>
        <p:nvSpPr>
          <p:cNvPr id="3" name="Rectangle 2"/>
          <p:cNvSpPr/>
          <p:nvPr/>
        </p:nvSpPr>
        <p:spPr>
          <a:xfrm>
            <a:off x="5563890" y="1524022"/>
            <a:ext cx="6183823" cy="646331"/>
          </a:xfrm>
          <a:prstGeom prst="rect">
            <a:avLst/>
          </a:prstGeom>
        </p:spPr>
        <p:txBody>
          <a:bodyPr wrap="square">
            <a:spAutoFit/>
          </a:bodyPr>
          <a:lstStyle/>
          <a:p>
            <a:r>
              <a:rPr lang="en-US" dirty="0"/>
              <a:t>2</a:t>
            </a:r>
            <a:r>
              <a:rPr lang="en-US" dirty="0">
                <a:latin typeface="Times New Roman" pitchFamily="18" charset="0"/>
                <a:cs typeface="Times New Roman" pitchFamily="18" charset="0"/>
              </a:rPr>
              <a:t>.WHY ARE GOOD EMPLOYEES LEAVING THE COMPANY?</a:t>
            </a:r>
            <a:r>
              <a:rPr lang="en-US" b="1"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pic>
        <p:nvPicPr>
          <p:cNvPr id="6" name="Content Placeholder 4">
            <a:extLst>
              <a:ext uri="{FF2B5EF4-FFF2-40B4-BE49-F238E27FC236}">
                <a16:creationId xmlns:a16="http://schemas.microsoft.com/office/drawing/2014/main" id="{E08FAA04-DCF7-4194-9EAC-C235E9C02C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63533" y="2170353"/>
            <a:ext cx="3099660" cy="1548915"/>
          </a:xfrm>
          <a:prstGeom prst="rect">
            <a:avLst/>
          </a:prstGeom>
        </p:spPr>
      </p:pic>
      <p:sp>
        <p:nvSpPr>
          <p:cNvPr id="4" name="Rectangle 3"/>
          <p:cNvSpPr/>
          <p:nvPr/>
        </p:nvSpPr>
        <p:spPr>
          <a:xfrm>
            <a:off x="3071095" y="4065744"/>
            <a:ext cx="6127150" cy="400110"/>
          </a:xfrm>
          <a:prstGeom prst="rect">
            <a:avLst/>
          </a:prstGeom>
        </p:spPr>
        <p:txBody>
          <a:bodyPr wrap="square">
            <a:spAutoFit/>
          </a:bodyPr>
          <a:lstStyle/>
          <a:p>
            <a:r>
              <a:rPr lang="en-US" sz="2000" dirty="0">
                <a:latin typeface="charter"/>
              </a:rPr>
              <a:t>3.</a:t>
            </a:r>
            <a:r>
              <a:rPr lang="en-US" sz="2000" dirty="0">
                <a:latin typeface="Times New Roman" pitchFamily="18" charset="0"/>
                <a:cs typeface="Times New Roman" pitchFamily="18" charset="0"/>
              </a:rPr>
              <a:t>HOW TO RETAIN THE TALENTED EMPLOYEES?</a:t>
            </a:r>
            <a:endParaRPr lang="en-IN" sz="2000" dirty="0">
              <a:latin typeface="Times New Roman" pitchFamily="18" charset="0"/>
              <a:cs typeface="Times New Roman" pitchFamily="18" charset="0"/>
            </a:endParaRPr>
          </a:p>
        </p:txBody>
      </p:sp>
      <p:pic>
        <p:nvPicPr>
          <p:cNvPr id="7" name="Content Placeholder 4">
            <a:extLst>
              <a:ext uri="{FF2B5EF4-FFF2-40B4-BE49-F238E27FC236}">
                <a16:creationId xmlns:a16="http://schemas.microsoft.com/office/drawing/2014/main" id="{4E8DC979-583E-40AA-BE50-0B81345BFA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3511" y="4716103"/>
            <a:ext cx="2882685" cy="1669197"/>
          </a:xfrm>
          <a:prstGeom prst="rect">
            <a:avLst/>
          </a:prstGeom>
        </p:spPr>
      </p:pic>
    </p:spTree>
    <p:extLst>
      <p:ext uri="{BB962C8B-B14F-4D97-AF65-F5344CB8AC3E}">
        <p14:creationId xmlns:p14="http://schemas.microsoft.com/office/powerpoint/2010/main" val="4039117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508C7-637E-AB48-D987-B3846B08B359}"/>
              </a:ext>
            </a:extLst>
          </p:cNvPr>
          <p:cNvSpPr>
            <a:spLocks noGrp="1"/>
          </p:cNvSpPr>
          <p:nvPr>
            <p:ph type="title"/>
          </p:nvPr>
        </p:nvSpPr>
        <p:spPr>
          <a:xfrm>
            <a:off x="2895600" y="545123"/>
            <a:ext cx="6028592" cy="553915"/>
          </a:xfrm>
        </p:spPr>
        <p:txBody>
          <a:bodyPr>
            <a:normAutofit fontScale="90000"/>
          </a:bodyPr>
          <a:lstStyle/>
          <a:p>
            <a:r>
              <a:rPr lang="en-US" dirty="0"/>
              <a:t>LITERATURE SURVEY</a:t>
            </a:r>
            <a:endParaRPr lang="en-IN" dirty="0"/>
          </a:p>
        </p:txBody>
      </p:sp>
      <p:graphicFrame>
        <p:nvGraphicFramePr>
          <p:cNvPr id="4" name="Content Placeholder 3">
            <a:extLst>
              <a:ext uri="{FF2B5EF4-FFF2-40B4-BE49-F238E27FC236}">
                <a16:creationId xmlns:a16="http://schemas.microsoft.com/office/drawing/2014/main" id="{83A711D0-3B94-6D2D-CFC3-1BEC28C11AB5}"/>
              </a:ext>
            </a:extLst>
          </p:cNvPr>
          <p:cNvGraphicFramePr>
            <a:graphicFrameLocks noGrp="1"/>
          </p:cNvGraphicFramePr>
          <p:nvPr>
            <p:ph idx="1"/>
            <p:extLst>
              <p:ext uri="{D42A27DB-BD31-4B8C-83A1-F6EECF244321}">
                <p14:modId xmlns:p14="http://schemas.microsoft.com/office/powerpoint/2010/main" val="2608795933"/>
              </p:ext>
            </p:extLst>
          </p:nvPr>
        </p:nvGraphicFramePr>
        <p:xfrm>
          <a:off x="1072658" y="1248508"/>
          <a:ext cx="10445261" cy="2289598"/>
        </p:xfrm>
        <a:graphic>
          <a:graphicData uri="http://schemas.openxmlformats.org/drawingml/2006/table">
            <a:tbl>
              <a:tblPr firstRow="1" firstCol="1" bandRow="1">
                <a:tableStyleId>{5C22544A-7EE6-4342-B048-85BDC9FD1C3A}</a:tableStyleId>
              </a:tblPr>
              <a:tblGrid>
                <a:gridCol w="2414605">
                  <a:extLst>
                    <a:ext uri="{9D8B030D-6E8A-4147-A177-3AD203B41FA5}">
                      <a16:colId xmlns:a16="http://schemas.microsoft.com/office/drawing/2014/main" val="1105830455"/>
                    </a:ext>
                  </a:extLst>
                </a:gridCol>
                <a:gridCol w="2510831">
                  <a:extLst>
                    <a:ext uri="{9D8B030D-6E8A-4147-A177-3AD203B41FA5}">
                      <a16:colId xmlns:a16="http://schemas.microsoft.com/office/drawing/2014/main" val="1343882891"/>
                    </a:ext>
                  </a:extLst>
                </a:gridCol>
                <a:gridCol w="3049035">
                  <a:extLst>
                    <a:ext uri="{9D8B030D-6E8A-4147-A177-3AD203B41FA5}">
                      <a16:colId xmlns:a16="http://schemas.microsoft.com/office/drawing/2014/main" val="2190142922"/>
                    </a:ext>
                  </a:extLst>
                </a:gridCol>
                <a:gridCol w="2470790">
                  <a:extLst>
                    <a:ext uri="{9D8B030D-6E8A-4147-A177-3AD203B41FA5}">
                      <a16:colId xmlns:a16="http://schemas.microsoft.com/office/drawing/2014/main" val="3072565655"/>
                    </a:ext>
                  </a:extLst>
                </a:gridCol>
              </a:tblGrid>
              <a:tr h="282949">
                <a:tc>
                  <a:txBody>
                    <a:bodyPr/>
                    <a:lstStyle/>
                    <a:p>
                      <a:pPr marL="6350" marR="118745" indent="-6350" algn="ctr">
                        <a:lnSpc>
                          <a:spcPct val="107000"/>
                        </a:lnSpc>
                        <a:spcAft>
                          <a:spcPts val="25"/>
                        </a:spcAft>
                      </a:pPr>
                      <a:r>
                        <a:rPr lang="en-IN" sz="1200" b="1" dirty="0">
                          <a:solidFill>
                            <a:schemeClr val="bg1"/>
                          </a:solidFill>
                          <a:effectLst/>
                        </a:rPr>
                        <a:t>Research Authors </a:t>
                      </a:r>
                    </a:p>
                    <a:p>
                      <a:pPr marL="29210" marR="118745" indent="-6350" algn="ctr">
                        <a:lnSpc>
                          <a:spcPct val="107000"/>
                        </a:lnSpc>
                        <a:spcAft>
                          <a:spcPts val="25"/>
                        </a:spcAft>
                      </a:pPr>
                      <a:r>
                        <a:rPr lang="en-IN" sz="900" b="1" dirty="0">
                          <a:effectLst/>
                        </a:rPr>
                        <a:t> </a:t>
                      </a:r>
                      <a:endParaRPr lang="en-IN" sz="1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7020" marR="230505" indent="-6350" algn="ctr">
                        <a:lnSpc>
                          <a:spcPct val="107000"/>
                        </a:lnSpc>
                        <a:spcAft>
                          <a:spcPts val="25"/>
                        </a:spcAft>
                      </a:pPr>
                      <a:r>
                        <a:rPr lang="en-IN" sz="1100" dirty="0">
                          <a:solidFill>
                            <a:schemeClr val="bg1"/>
                          </a:solidFill>
                          <a:effectLst/>
                        </a:rPr>
                        <a:t>Problem  studied </a:t>
                      </a:r>
                      <a:endParaRPr lang="en-IN" sz="1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70205" marR="319405" indent="-6350" algn="ctr">
                        <a:lnSpc>
                          <a:spcPct val="107000"/>
                        </a:lnSpc>
                        <a:spcAft>
                          <a:spcPts val="25"/>
                        </a:spcAft>
                      </a:pPr>
                      <a:r>
                        <a:rPr lang="en-IN" sz="1100" dirty="0">
                          <a:solidFill>
                            <a:schemeClr val="bg1"/>
                          </a:solidFill>
                          <a:effectLst/>
                        </a:rPr>
                        <a:t>Techniques  Studied </a:t>
                      </a:r>
                      <a:endParaRPr lang="en-IN" sz="1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540" marR="118745" indent="-6350" algn="ctr">
                        <a:lnSpc>
                          <a:spcPct val="107000"/>
                        </a:lnSpc>
                        <a:spcAft>
                          <a:spcPts val="25"/>
                        </a:spcAft>
                      </a:pPr>
                      <a:r>
                        <a:rPr lang="en-IN" sz="1100" dirty="0">
                          <a:solidFill>
                            <a:schemeClr val="bg1"/>
                          </a:solidFill>
                          <a:effectLst/>
                        </a:rPr>
                        <a:t>Recommend </a:t>
                      </a:r>
                      <a:endParaRPr lang="en-IN" sz="1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6882898"/>
                  </a:ext>
                </a:extLst>
              </a:tr>
              <a:tr h="854957">
                <a:tc>
                  <a:txBody>
                    <a:bodyPr/>
                    <a:lstStyle/>
                    <a:p>
                      <a:pPr marL="70485" marR="598805" indent="-6350" algn="l">
                        <a:lnSpc>
                          <a:spcPct val="107000"/>
                        </a:lnSpc>
                        <a:spcAft>
                          <a:spcPts val="25"/>
                        </a:spcAft>
                      </a:pPr>
                      <a:r>
                        <a:rPr lang="en-IN" sz="900" b="0" dirty="0" err="1">
                          <a:solidFill>
                            <a:schemeClr val="tx1"/>
                          </a:solidFill>
                          <a:effectLst/>
                        </a:rPr>
                        <a:t>Nagadevara</a:t>
                      </a:r>
                      <a:r>
                        <a:rPr lang="en-IN" sz="900" b="0" dirty="0">
                          <a:solidFill>
                            <a:schemeClr val="tx1"/>
                          </a:solidFill>
                          <a:effectLst/>
                        </a:rPr>
                        <a:t> ,  Srinivasan  and </a:t>
                      </a:r>
                      <a:r>
                        <a:rPr lang="en-IN" sz="900" b="0" dirty="0" err="1">
                          <a:solidFill>
                            <a:schemeClr val="tx1"/>
                          </a:solidFill>
                          <a:effectLst/>
                        </a:rPr>
                        <a:t>Valk</a:t>
                      </a:r>
                      <a:r>
                        <a:rPr lang="en-IN" sz="900" b="0" dirty="0">
                          <a:solidFill>
                            <a:schemeClr val="tx1"/>
                          </a:solidFill>
                          <a:effectLst/>
                        </a:rPr>
                        <a:t>[10]</a:t>
                      </a:r>
                      <a:endParaRPr lang="en-IN" sz="10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38735" indent="-6350" algn="l">
                        <a:lnSpc>
                          <a:spcPct val="93000"/>
                        </a:lnSpc>
                        <a:spcAft>
                          <a:spcPts val="35"/>
                        </a:spcAft>
                      </a:pPr>
                      <a:r>
                        <a:rPr lang="en-IN" sz="900" dirty="0">
                          <a:effectLst/>
                        </a:rPr>
                        <a:t>Relationship of withdrawal </a:t>
                      </a:r>
                      <a:endParaRPr lang="en-IN" sz="1000" dirty="0">
                        <a:effectLst/>
                      </a:endParaRPr>
                    </a:p>
                    <a:p>
                      <a:pPr marL="69850" marR="52705" indent="-6350" algn="l">
                        <a:lnSpc>
                          <a:spcPct val="96000"/>
                        </a:lnSpc>
                        <a:spcAft>
                          <a:spcPts val="25"/>
                        </a:spcAft>
                      </a:pPr>
                      <a:r>
                        <a:rPr lang="en-IN" sz="900" dirty="0" err="1">
                          <a:effectLst/>
                        </a:rPr>
                        <a:t>behaviors</a:t>
                      </a:r>
                      <a:r>
                        <a:rPr lang="en-IN" sz="900" dirty="0">
                          <a:effectLst/>
                        </a:rPr>
                        <a:t> like lateness and </a:t>
                      </a:r>
                      <a:endParaRPr lang="en-IN" sz="1000" dirty="0">
                        <a:effectLst/>
                      </a:endParaRPr>
                    </a:p>
                    <a:p>
                      <a:pPr marL="69850" marR="128270" indent="-6350" algn="just">
                        <a:lnSpc>
                          <a:spcPct val="107000"/>
                        </a:lnSpc>
                        <a:spcAft>
                          <a:spcPts val="25"/>
                        </a:spcAft>
                      </a:pPr>
                      <a:r>
                        <a:rPr lang="en-IN" sz="900" dirty="0">
                          <a:effectLst/>
                        </a:rPr>
                        <a:t>absenteeism, job content, tenure and demographics on employee turnover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79375" indent="-6350" algn="just">
                        <a:lnSpc>
                          <a:spcPct val="98000"/>
                        </a:lnSpc>
                        <a:spcAft>
                          <a:spcPts val="15"/>
                        </a:spcAft>
                      </a:pPr>
                      <a:r>
                        <a:rPr lang="en-IN" sz="900" dirty="0">
                          <a:effectLst/>
                        </a:rPr>
                        <a:t>Artificial neural networks, logistic regression, classification and regression trees (CART), classification trees (C5.0), and discriminant analysis) </a:t>
                      </a:r>
                      <a:endParaRPr lang="en-IN" sz="1000" dirty="0">
                        <a:effectLst/>
                      </a:endParaRPr>
                    </a:p>
                    <a:p>
                      <a:pPr marL="69850" marR="118745" indent="-6350" algn="l">
                        <a:lnSpc>
                          <a:spcPct val="107000"/>
                        </a:lnSpc>
                        <a:spcAft>
                          <a:spcPts val="25"/>
                        </a:spcAft>
                      </a:pP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118745" indent="-6350" algn="l">
                        <a:lnSpc>
                          <a:spcPct val="107000"/>
                        </a:lnSpc>
                        <a:spcAft>
                          <a:spcPts val="25"/>
                        </a:spcAft>
                      </a:pPr>
                      <a:r>
                        <a:rPr lang="en-IN" sz="900" dirty="0">
                          <a:effectLst/>
                        </a:rPr>
                        <a:t>Classification and </a:t>
                      </a:r>
                      <a:endParaRPr lang="en-IN" sz="1000" dirty="0">
                        <a:effectLst/>
                      </a:endParaRPr>
                    </a:p>
                    <a:p>
                      <a:pPr marL="69850" marR="118745" indent="-6350" algn="l">
                        <a:lnSpc>
                          <a:spcPct val="107000"/>
                        </a:lnSpc>
                        <a:spcAft>
                          <a:spcPts val="25"/>
                        </a:spcAft>
                      </a:pPr>
                      <a:r>
                        <a:rPr lang="en-IN" sz="900" dirty="0">
                          <a:effectLst/>
                        </a:rPr>
                        <a:t>regression trees (CART) </a:t>
                      </a:r>
                      <a:endParaRPr lang="en-IN" sz="1000" dirty="0">
                        <a:effectLst/>
                      </a:endParaRPr>
                    </a:p>
                    <a:p>
                      <a:pPr marL="69850" marR="118745" indent="-6350" algn="l">
                        <a:lnSpc>
                          <a:spcPct val="107000"/>
                        </a:lnSpc>
                        <a:spcAft>
                          <a:spcPts val="25"/>
                        </a:spcAft>
                      </a:pP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91504605"/>
                  </a:ext>
                </a:extLst>
              </a:tr>
              <a:tr h="1099361">
                <a:tc>
                  <a:txBody>
                    <a:bodyPr/>
                    <a:lstStyle/>
                    <a:p>
                      <a:pPr marL="70485" marR="577850" indent="-6350" algn="just">
                        <a:lnSpc>
                          <a:spcPct val="107000"/>
                        </a:lnSpc>
                        <a:spcAft>
                          <a:spcPts val="25"/>
                        </a:spcAft>
                      </a:pPr>
                      <a:r>
                        <a:rPr lang="en-IN" sz="900" b="0" dirty="0">
                          <a:solidFill>
                            <a:schemeClr val="tx1"/>
                          </a:solidFill>
                          <a:effectLst/>
                        </a:rPr>
                        <a:t>Hong, Wei and Chen[11] </a:t>
                      </a:r>
                      <a:endParaRPr lang="en-IN" sz="10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79375" indent="-6350" algn="just">
                        <a:lnSpc>
                          <a:spcPct val="98000"/>
                        </a:lnSpc>
                        <a:spcAft>
                          <a:spcPts val="15"/>
                        </a:spcAft>
                      </a:pPr>
                      <a:r>
                        <a:rPr lang="en-IN" sz="900" dirty="0">
                          <a:effectLst/>
                        </a:rPr>
                        <a:t>Feasibility of applying the </a:t>
                      </a:r>
                      <a:r>
                        <a:rPr lang="en-IN" sz="900" dirty="0" err="1">
                          <a:effectLst/>
                        </a:rPr>
                        <a:t>Logitand</a:t>
                      </a:r>
                      <a:r>
                        <a:rPr lang="en-IN" sz="900" dirty="0">
                          <a:effectLst/>
                        </a:rPr>
                        <a:t> </a:t>
                      </a:r>
                      <a:r>
                        <a:rPr lang="en-IN" sz="900" dirty="0" err="1">
                          <a:effectLst/>
                        </a:rPr>
                        <a:t>Probitmodels</a:t>
                      </a:r>
                      <a:r>
                        <a:rPr lang="en-IN" sz="900" dirty="0">
                          <a:effectLst/>
                        </a:rPr>
                        <a:t> to employee voluntary Turnover predictions </a:t>
                      </a:r>
                      <a:endParaRPr lang="en-IN" sz="1000" dirty="0">
                        <a:effectLst/>
                      </a:endParaRPr>
                    </a:p>
                    <a:p>
                      <a:pPr marL="69850" marR="118745" indent="-6350" algn="l">
                        <a:lnSpc>
                          <a:spcPct val="107000"/>
                        </a:lnSpc>
                        <a:spcAft>
                          <a:spcPts val="25"/>
                        </a:spcAft>
                      </a:pP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231775" indent="-6350" algn="just">
                        <a:lnSpc>
                          <a:spcPct val="107000"/>
                        </a:lnSpc>
                        <a:spcAft>
                          <a:spcPts val="25"/>
                        </a:spcAft>
                      </a:pPr>
                      <a:r>
                        <a:rPr lang="en-IN" sz="900" dirty="0">
                          <a:effectLst/>
                        </a:rPr>
                        <a:t>Logistic regression model (</a:t>
                      </a:r>
                      <a:r>
                        <a:rPr lang="en-IN" sz="900" dirty="0" err="1">
                          <a:effectLst/>
                        </a:rPr>
                        <a:t>logit</a:t>
                      </a:r>
                      <a:r>
                        <a:rPr lang="en-IN" sz="900" dirty="0">
                          <a:effectLst/>
                        </a:rPr>
                        <a:t>), probability regression model (</a:t>
                      </a:r>
                      <a:r>
                        <a:rPr lang="en-IN" sz="900" dirty="0" err="1">
                          <a:effectLst/>
                        </a:rPr>
                        <a:t>probit</a:t>
                      </a: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78740" indent="-6350" algn="just">
                        <a:lnSpc>
                          <a:spcPct val="107000"/>
                        </a:lnSpc>
                        <a:spcAft>
                          <a:spcPts val="25"/>
                        </a:spcAft>
                      </a:pPr>
                      <a:r>
                        <a:rPr lang="en-IN" sz="900" dirty="0">
                          <a:effectLst/>
                        </a:rPr>
                        <a:t>Logistic regression model (logic)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40156129"/>
                  </a:ext>
                </a:extLst>
              </a:tr>
            </a:tbl>
          </a:graphicData>
        </a:graphic>
      </p:graphicFrame>
      <p:graphicFrame>
        <p:nvGraphicFramePr>
          <p:cNvPr id="5" name="Table 4">
            <a:extLst>
              <a:ext uri="{FF2B5EF4-FFF2-40B4-BE49-F238E27FC236}">
                <a16:creationId xmlns:a16="http://schemas.microsoft.com/office/drawing/2014/main" id="{350B21C1-DB83-A8E4-3E25-803E15DCF003}"/>
              </a:ext>
            </a:extLst>
          </p:cNvPr>
          <p:cNvGraphicFramePr>
            <a:graphicFrameLocks noGrp="1"/>
          </p:cNvGraphicFramePr>
          <p:nvPr>
            <p:extLst>
              <p:ext uri="{D42A27DB-BD31-4B8C-83A1-F6EECF244321}">
                <p14:modId xmlns:p14="http://schemas.microsoft.com/office/powerpoint/2010/main" val="1184586042"/>
              </p:ext>
            </p:extLst>
          </p:nvPr>
        </p:nvGraphicFramePr>
        <p:xfrm>
          <a:off x="1069384" y="3541363"/>
          <a:ext cx="10447495" cy="1423691"/>
        </p:xfrm>
        <a:graphic>
          <a:graphicData uri="http://schemas.openxmlformats.org/drawingml/2006/table">
            <a:tbl>
              <a:tblPr firstRow="1" firstCol="1" bandRow="1">
                <a:tableStyleId>{5C22544A-7EE6-4342-B048-85BDC9FD1C3A}</a:tableStyleId>
              </a:tblPr>
              <a:tblGrid>
                <a:gridCol w="2411328">
                  <a:extLst>
                    <a:ext uri="{9D8B030D-6E8A-4147-A177-3AD203B41FA5}">
                      <a16:colId xmlns:a16="http://schemas.microsoft.com/office/drawing/2014/main" val="310647273"/>
                    </a:ext>
                  </a:extLst>
                </a:gridCol>
                <a:gridCol w="2523392">
                  <a:extLst>
                    <a:ext uri="{9D8B030D-6E8A-4147-A177-3AD203B41FA5}">
                      <a16:colId xmlns:a16="http://schemas.microsoft.com/office/drawing/2014/main" val="207627165"/>
                    </a:ext>
                  </a:extLst>
                </a:gridCol>
                <a:gridCol w="3060704">
                  <a:extLst>
                    <a:ext uri="{9D8B030D-6E8A-4147-A177-3AD203B41FA5}">
                      <a16:colId xmlns:a16="http://schemas.microsoft.com/office/drawing/2014/main" val="1121640335"/>
                    </a:ext>
                  </a:extLst>
                </a:gridCol>
                <a:gridCol w="2452071">
                  <a:extLst>
                    <a:ext uri="{9D8B030D-6E8A-4147-A177-3AD203B41FA5}">
                      <a16:colId xmlns:a16="http://schemas.microsoft.com/office/drawing/2014/main" val="1974291083"/>
                    </a:ext>
                  </a:extLst>
                </a:gridCol>
              </a:tblGrid>
              <a:tr h="1423691">
                <a:tc>
                  <a:txBody>
                    <a:bodyPr/>
                    <a:lstStyle/>
                    <a:p>
                      <a:pPr marL="70485" marR="118745" indent="-6350" algn="l">
                        <a:lnSpc>
                          <a:spcPct val="107000"/>
                        </a:lnSpc>
                        <a:spcAft>
                          <a:spcPts val="25"/>
                        </a:spcAft>
                      </a:pPr>
                      <a:r>
                        <a:rPr lang="en-IN" sz="900" b="0" dirty="0">
                          <a:solidFill>
                            <a:schemeClr val="tx1"/>
                          </a:solidFill>
                          <a:effectLst/>
                        </a:rPr>
                        <a:t>Marjorie </a:t>
                      </a:r>
                      <a:endParaRPr lang="en-IN" sz="1000" b="0" dirty="0">
                        <a:solidFill>
                          <a:schemeClr val="tx1"/>
                        </a:solidFill>
                        <a:effectLst/>
                      </a:endParaRPr>
                    </a:p>
                    <a:p>
                      <a:pPr marL="70485" marR="118745" indent="-6350" algn="l">
                        <a:lnSpc>
                          <a:spcPct val="107000"/>
                        </a:lnSpc>
                        <a:spcAft>
                          <a:spcPts val="25"/>
                        </a:spcAft>
                      </a:pPr>
                      <a:r>
                        <a:rPr lang="en-IN" sz="900" b="0" dirty="0">
                          <a:solidFill>
                            <a:schemeClr val="tx1"/>
                          </a:solidFill>
                          <a:effectLst/>
                        </a:rPr>
                        <a:t>Laura </a:t>
                      </a:r>
                      <a:endParaRPr lang="en-IN" sz="1000" b="0" dirty="0">
                        <a:solidFill>
                          <a:schemeClr val="tx1"/>
                        </a:solidFill>
                        <a:effectLst/>
                      </a:endParaRPr>
                    </a:p>
                    <a:p>
                      <a:pPr marL="70485" marR="118745" indent="-6350" algn="l">
                        <a:lnSpc>
                          <a:spcPct val="107000"/>
                        </a:lnSpc>
                        <a:spcAft>
                          <a:spcPts val="25"/>
                        </a:spcAft>
                      </a:pPr>
                      <a:r>
                        <a:rPr lang="en-IN" sz="900" b="0" dirty="0">
                          <a:solidFill>
                            <a:schemeClr val="tx1"/>
                          </a:solidFill>
                          <a:effectLst/>
                        </a:rPr>
                        <a:t>Kane </a:t>
                      </a:r>
                      <a:endParaRPr lang="en-IN" sz="1000" b="0" dirty="0">
                        <a:solidFill>
                          <a:schemeClr val="tx1"/>
                        </a:solidFill>
                        <a:effectLst/>
                      </a:endParaRPr>
                    </a:p>
                    <a:p>
                      <a:pPr marL="70485" marR="118745" indent="-6350" algn="l">
                        <a:lnSpc>
                          <a:spcPct val="107000"/>
                        </a:lnSpc>
                        <a:spcAft>
                          <a:spcPts val="25"/>
                        </a:spcAft>
                      </a:pPr>
                      <a:r>
                        <a:rPr lang="en-IN" sz="900" b="0" dirty="0">
                          <a:solidFill>
                            <a:schemeClr val="tx1"/>
                          </a:solidFill>
                          <a:effectLst/>
                        </a:rPr>
                        <a:t>Sellers[12] </a:t>
                      </a:r>
                      <a:endParaRPr lang="en-IN" sz="10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130175" indent="-6350" algn="just">
                        <a:lnSpc>
                          <a:spcPct val="97000"/>
                        </a:lnSpc>
                        <a:spcAft>
                          <a:spcPts val="25"/>
                        </a:spcAft>
                      </a:pPr>
                      <a:r>
                        <a:rPr lang="en-IN" sz="900" b="0" dirty="0">
                          <a:solidFill>
                            <a:schemeClr val="tx1"/>
                          </a:solidFill>
                          <a:effectLst/>
                        </a:rPr>
                        <a:t>To explore various personal, as well as work variables impacting employee voluntary turnover </a:t>
                      </a:r>
                      <a:endParaRPr lang="en-IN" sz="1000" b="0" dirty="0">
                        <a:solidFill>
                          <a:schemeClr val="tx1"/>
                        </a:solidFill>
                        <a:effectLst/>
                      </a:endParaRPr>
                    </a:p>
                    <a:p>
                      <a:pPr marL="69850" marR="118745" indent="-6350" algn="l">
                        <a:lnSpc>
                          <a:spcPct val="107000"/>
                        </a:lnSpc>
                        <a:spcAft>
                          <a:spcPts val="25"/>
                        </a:spcAft>
                      </a:pPr>
                      <a:r>
                        <a:rPr lang="en-IN" sz="900" b="0" dirty="0">
                          <a:solidFill>
                            <a:schemeClr val="bg1"/>
                          </a:solidFill>
                          <a:effectLst/>
                        </a:rPr>
                        <a:t> </a:t>
                      </a:r>
                      <a:endParaRPr lang="en-IN" sz="10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6350" marR="118745" indent="-6350" algn="l">
                        <a:lnSpc>
                          <a:spcPct val="107000"/>
                        </a:lnSpc>
                        <a:spcAft>
                          <a:spcPts val="25"/>
                        </a:spcAft>
                      </a:pPr>
                      <a:endParaRPr lang="en-IN" sz="1000" dirty="0">
                        <a:effectLst/>
                      </a:endParaRPr>
                    </a:p>
                    <a:p>
                      <a:pPr marL="6350" marR="118745" indent="-6350" algn="l">
                        <a:lnSpc>
                          <a:spcPct val="107000"/>
                        </a:lnSpc>
                        <a:spcAft>
                          <a:spcPts val="800"/>
                        </a:spcAft>
                      </a:pPr>
                      <a:r>
                        <a:rPr lang="en-IN" sz="900" b="0" dirty="0">
                          <a:solidFill>
                            <a:schemeClr val="tx1"/>
                          </a:solidFill>
                          <a:effectLst/>
                        </a:rPr>
                        <a:t>Binomial logit regression</a:t>
                      </a:r>
                      <a:endParaRPr lang="en-IN" sz="1000" b="0" dirty="0">
                        <a:solidFill>
                          <a:schemeClr val="tx1"/>
                        </a:solidFill>
                        <a:effectLst/>
                      </a:endParaRPr>
                    </a:p>
                    <a:p>
                      <a:pPr marL="6350" marR="118745" indent="-6350" algn="l">
                        <a:lnSpc>
                          <a:spcPct val="107000"/>
                        </a:lnSpc>
                        <a:spcAft>
                          <a:spcPts val="800"/>
                        </a:spcAft>
                      </a:pPr>
                      <a:r>
                        <a:rPr lang="en-IN" sz="900" dirty="0">
                          <a:effectLst/>
                        </a:rPr>
                        <a:t> </a:t>
                      </a:r>
                      <a:endParaRPr lang="en-IN" sz="1000" dirty="0">
                        <a:effectLst/>
                      </a:endParaRPr>
                    </a:p>
                    <a:p>
                      <a:pPr marL="6350" marR="118745" indent="-6350" algn="l">
                        <a:lnSpc>
                          <a:spcPct val="107000"/>
                        </a:lnSpc>
                        <a:spcAft>
                          <a:spcPts val="800"/>
                        </a:spcAft>
                      </a:pP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69850" marR="118745" indent="-6350" algn="l">
                        <a:lnSpc>
                          <a:spcPct val="107000"/>
                        </a:lnSpc>
                        <a:spcAft>
                          <a:spcPts val="25"/>
                        </a:spcAft>
                      </a:pPr>
                      <a:r>
                        <a:rPr lang="en-IN" sz="900" b="0" dirty="0">
                          <a:solidFill>
                            <a:schemeClr val="tx1"/>
                          </a:solidFill>
                          <a:effectLst/>
                        </a:rPr>
                        <a:t>Binomial logit </a:t>
                      </a:r>
                      <a:endParaRPr lang="en-IN" sz="1000" b="0" dirty="0">
                        <a:solidFill>
                          <a:schemeClr val="tx1"/>
                        </a:solidFill>
                        <a:effectLst/>
                      </a:endParaRPr>
                    </a:p>
                    <a:p>
                      <a:pPr marL="69850" marR="118745" indent="-6350" algn="l">
                        <a:lnSpc>
                          <a:spcPct val="107000"/>
                        </a:lnSpc>
                        <a:spcAft>
                          <a:spcPts val="25"/>
                        </a:spcAft>
                      </a:pPr>
                      <a:r>
                        <a:rPr lang="en-IN" sz="900" b="0" dirty="0">
                          <a:solidFill>
                            <a:schemeClr val="tx1"/>
                          </a:solidFill>
                          <a:effectLst/>
                        </a:rPr>
                        <a:t>regression </a:t>
                      </a:r>
                      <a:endParaRPr lang="en-IN" sz="1000" b="0" dirty="0">
                        <a:solidFill>
                          <a:schemeClr val="tx1"/>
                        </a:solidFill>
                        <a:effectLst/>
                      </a:endParaRPr>
                    </a:p>
                    <a:p>
                      <a:pPr marL="69850" marR="118745" indent="-6350" algn="l">
                        <a:lnSpc>
                          <a:spcPct val="107000"/>
                        </a:lnSpc>
                        <a:spcAft>
                          <a:spcPts val="25"/>
                        </a:spcAft>
                      </a:pP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63635742"/>
                  </a:ext>
                </a:extLst>
              </a:tr>
            </a:tbl>
          </a:graphicData>
        </a:graphic>
      </p:graphicFrame>
      <p:graphicFrame>
        <p:nvGraphicFramePr>
          <p:cNvPr id="11" name="Table 10">
            <a:extLst>
              <a:ext uri="{FF2B5EF4-FFF2-40B4-BE49-F238E27FC236}">
                <a16:creationId xmlns:a16="http://schemas.microsoft.com/office/drawing/2014/main" id="{828E340B-06F9-D227-6DA6-5FA19E5A1DA6}"/>
              </a:ext>
            </a:extLst>
          </p:cNvPr>
          <p:cNvGraphicFramePr>
            <a:graphicFrameLocks noGrp="1"/>
          </p:cNvGraphicFramePr>
          <p:nvPr>
            <p:extLst>
              <p:ext uri="{D42A27DB-BD31-4B8C-83A1-F6EECF244321}">
                <p14:modId xmlns:p14="http://schemas.microsoft.com/office/powerpoint/2010/main" val="4223818993"/>
              </p:ext>
            </p:extLst>
          </p:nvPr>
        </p:nvGraphicFramePr>
        <p:xfrm>
          <a:off x="1069383" y="4448014"/>
          <a:ext cx="10439744" cy="1542081"/>
        </p:xfrm>
        <a:graphic>
          <a:graphicData uri="http://schemas.openxmlformats.org/drawingml/2006/table">
            <a:tbl>
              <a:tblPr firstRow="1" firstCol="1" bandRow="1">
                <a:tableStyleId>{5C22544A-7EE6-4342-B048-85BDC9FD1C3A}</a:tableStyleId>
              </a:tblPr>
              <a:tblGrid>
                <a:gridCol w="2394785">
                  <a:extLst>
                    <a:ext uri="{9D8B030D-6E8A-4147-A177-3AD203B41FA5}">
                      <a16:colId xmlns:a16="http://schemas.microsoft.com/office/drawing/2014/main" val="232730281"/>
                    </a:ext>
                  </a:extLst>
                </a:gridCol>
                <a:gridCol w="2532185">
                  <a:extLst>
                    <a:ext uri="{9D8B030D-6E8A-4147-A177-3AD203B41FA5}">
                      <a16:colId xmlns:a16="http://schemas.microsoft.com/office/drawing/2014/main" val="3774783404"/>
                    </a:ext>
                  </a:extLst>
                </a:gridCol>
                <a:gridCol w="3060703">
                  <a:extLst>
                    <a:ext uri="{9D8B030D-6E8A-4147-A177-3AD203B41FA5}">
                      <a16:colId xmlns:a16="http://schemas.microsoft.com/office/drawing/2014/main" val="454660783"/>
                    </a:ext>
                  </a:extLst>
                </a:gridCol>
                <a:gridCol w="2452071">
                  <a:extLst>
                    <a:ext uri="{9D8B030D-6E8A-4147-A177-3AD203B41FA5}">
                      <a16:colId xmlns:a16="http://schemas.microsoft.com/office/drawing/2014/main" val="1075705895"/>
                    </a:ext>
                  </a:extLst>
                </a:gridCol>
              </a:tblGrid>
              <a:tr h="751667">
                <a:tc>
                  <a:txBody>
                    <a:bodyPr/>
                    <a:lstStyle/>
                    <a:p>
                      <a:pPr marL="70485" marR="118745" indent="-6350" algn="l">
                        <a:lnSpc>
                          <a:spcPct val="107000"/>
                        </a:lnSpc>
                        <a:spcAft>
                          <a:spcPts val="25"/>
                        </a:spcAft>
                      </a:pPr>
                      <a:r>
                        <a:rPr lang="en-IN" sz="900" b="0" dirty="0" err="1">
                          <a:solidFill>
                            <a:schemeClr val="tx1"/>
                          </a:solidFill>
                          <a:effectLst/>
                        </a:rPr>
                        <a:t>Alao</a:t>
                      </a:r>
                      <a:r>
                        <a:rPr lang="en-IN" sz="900" b="0" dirty="0">
                          <a:solidFill>
                            <a:schemeClr val="tx1"/>
                          </a:solidFill>
                          <a:effectLst/>
                        </a:rPr>
                        <a:t> and </a:t>
                      </a:r>
                      <a:endParaRPr lang="en-IN" sz="1000" b="0" dirty="0">
                        <a:solidFill>
                          <a:schemeClr val="tx1"/>
                        </a:solidFill>
                        <a:effectLst/>
                      </a:endParaRPr>
                    </a:p>
                    <a:p>
                      <a:pPr marL="70485" marR="118745" indent="-6350" algn="l">
                        <a:lnSpc>
                          <a:spcPct val="107000"/>
                        </a:lnSpc>
                        <a:spcAft>
                          <a:spcPts val="25"/>
                        </a:spcAft>
                      </a:pPr>
                      <a:r>
                        <a:rPr lang="en-IN" sz="900" b="0" dirty="0" err="1">
                          <a:solidFill>
                            <a:schemeClr val="tx1"/>
                          </a:solidFill>
                          <a:effectLst/>
                        </a:rPr>
                        <a:t>Adeyemo</a:t>
                      </a:r>
                      <a:r>
                        <a:rPr lang="en-IN" sz="900" b="0" dirty="0">
                          <a:solidFill>
                            <a:schemeClr val="tx1"/>
                          </a:solidFill>
                          <a:effectLst/>
                        </a:rPr>
                        <a:t>[13] </a:t>
                      </a:r>
                      <a:endParaRPr lang="en-IN" sz="10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69850" marR="186055" indent="-6350" algn="just">
                        <a:lnSpc>
                          <a:spcPct val="107000"/>
                        </a:lnSpc>
                        <a:spcAft>
                          <a:spcPts val="25"/>
                        </a:spcAft>
                      </a:pPr>
                      <a:r>
                        <a:rPr lang="en-IN" sz="900" b="0" dirty="0" err="1">
                          <a:solidFill>
                            <a:schemeClr val="tx1"/>
                          </a:solidFill>
                          <a:effectLst/>
                        </a:rPr>
                        <a:t>Analyzing</a:t>
                      </a:r>
                      <a:r>
                        <a:rPr lang="en-IN" sz="900" b="0" dirty="0">
                          <a:solidFill>
                            <a:schemeClr val="tx1"/>
                          </a:solidFill>
                          <a:effectLst/>
                        </a:rPr>
                        <a:t> employee attrition using multiple decision tree algorithms </a:t>
                      </a:r>
                      <a:endParaRPr lang="en-IN" sz="10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69850" marR="118745" indent="-6350" algn="l">
                        <a:lnSpc>
                          <a:spcPct val="107000"/>
                        </a:lnSpc>
                        <a:spcAft>
                          <a:spcPts val="25"/>
                        </a:spcAft>
                      </a:pPr>
                      <a:r>
                        <a:rPr lang="en-IN" sz="900" b="0" dirty="0">
                          <a:solidFill>
                            <a:schemeClr val="tx1"/>
                          </a:solidFill>
                          <a:effectLst/>
                        </a:rPr>
                        <a:t>C4.5, C5, </a:t>
                      </a:r>
                      <a:r>
                        <a:rPr lang="en-IN" sz="900" b="0" dirty="0" err="1">
                          <a:solidFill>
                            <a:schemeClr val="tx1"/>
                          </a:solidFill>
                          <a:effectLst/>
                        </a:rPr>
                        <a:t>REPTree</a:t>
                      </a:r>
                      <a:r>
                        <a:rPr lang="en-IN" sz="900" b="0" dirty="0">
                          <a:solidFill>
                            <a:schemeClr val="tx1"/>
                          </a:solidFill>
                          <a:effectLst/>
                        </a:rPr>
                        <a:t>, CART </a:t>
                      </a:r>
                      <a:endParaRPr lang="en-IN" sz="1000" b="0" dirty="0">
                        <a:solidFill>
                          <a:schemeClr val="tx1"/>
                        </a:solidFill>
                        <a:effectLst/>
                      </a:endParaRPr>
                    </a:p>
                    <a:p>
                      <a:pPr marL="69850" marR="118745" indent="-6350" algn="l">
                        <a:lnSpc>
                          <a:spcPct val="107000"/>
                        </a:lnSpc>
                        <a:spcAft>
                          <a:spcPts val="25"/>
                        </a:spcAft>
                      </a:pP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69850" marR="118745" indent="-6350" algn="l">
                        <a:lnSpc>
                          <a:spcPct val="107000"/>
                        </a:lnSpc>
                        <a:spcAft>
                          <a:spcPts val="25"/>
                        </a:spcAft>
                      </a:pPr>
                      <a:r>
                        <a:rPr lang="en-IN" sz="900" b="0" dirty="0">
                          <a:solidFill>
                            <a:schemeClr val="tx1"/>
                          </a:solidFill>
                          <a:effectLst/>
                        </a:rPr>
                        <a:t>C5 decision </a:t>
                      </a:r>
                      <a:endParaRPr lang="en-IN" sz="1000" b="0" dirty="0">
                        <a:solidFill>
                          <a:schemeClr val="tx1"/>
                        </a:solidFill>
                        <a:effectLst/>
                      </a:endParaRPr>
                    </a:p>
                    <a:p>
                      <a:pPr marL="69850" marR="118745" indent="-6350" algn="l">
                        <a:lnSpc>
                          <a:spcPct val="107000"/>
                        </a:lnSpc>
                        <a:spcAft>
                          <a:spcPts val="25"/>
                        </a:spcAft>
                      </a:pPr>
                      <a:r>
                        <a:rPr lang="en-IN" sz="900" b="0" dirty="0">
                          <a:solidFill>
                            <a:schemeClr val="tx1"/>
                          </a:solidFill>
                          <a:effectLst/>
                        </a:rPr>
                        <a:t>tree </a:t>
                      </a:r>
                      <a:endParaRPr lang="en-IN" sz="1000" b="0" dirty="0">
                        <a:solidFill>
                          <a:schemeClr val="tx1"/>
                        </a:solidFill>
                        <a:effectLst/>
                      </a:endParaRPr>
                    </a:p>
                    <a:p>
                      <a:pPr marL="69850" marR="118745" indent="-6350" algn="l">
                        <a:lnSpc>
                          <a:spcPct val="107000"/>
                        </a:lnSpc>
                        <a:spcAft>
                          <a:spcPts val="25"/>
                        </a:spcAft>
                      </a:pPr>
                      <a:r>
                        <a:rPr lang="en-IN" sz="900" b="0" dirty="0">
                          <a:solidFill>
                            <a:schemeClr val="tx1"/>
                          </a:solidFill>
                          <a:effectLst/>
                        </a:rPr>
                        <a:t> </a:t>
                      </a:r>
                      <a:endParaRPr lang="en-IN" sz="10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67607214"/>
                  </a:ext>
                </a:extLst>
              </a:tr>
              <a:tr h="790414">
                <a:tc>
                  <a:txBody>
                    <a:bodyPr/>
                    <a:lstStyle/>
                    <a:p>
                      <a:pPr marL="70485" marR="85090" indent="-6350" algn="l">
                        <a:lnSpc>
                          <a:spcPct val="107000"/>
                        </a:lnSpc>
                        <a:spcAft>
                          <a:spcPts val="25"/>
                        </a:spcAft>
                      </a:pPr>
                      <a:r>
                        <a:rPr lang="en-IN" sz="900" b="0" dirty="0" err="1">
                          <a:solidFill>
                            <a:schemeClr val="tx1"/>
                          </a:solidFill>
                          <a:effectLst/>
                        </a:rPr>
                        <a:t>Saradhi</a:t>
                      </a:r>
                      <a:r>
                        <a:rPr lang="en-IN" sz="900" b="0" dirty="0">
                          <a:solidFill>
                            <a:schemeClr val="tx1"/>
                          </a:solidFill>
                          <a:effectLst/>
                        </a:rPr>
                        <a:t> and </a:t>
                      </a:r>
                      <a:r>
                        <a:rPr lang="en-IN" sz="900" b="0" dirty="0" err="1">
                          <a:solidFill>
                            <a:schemeClr val="tx1"/>
                          </a:solidFill>
                          <a:effectLst/>
                        </a:rPr>
                        <a:t>Palshikar</a:t>
                      </a:r>
                      <a:r>
                        <a:rPr lang="en-IN" sz="900" b="0" dirty="0">
                          <a:solidFill>
                            <a:schemeClr val="tx1"/>
                          </a:solidFill>
                          <a:effectLst/>
                        </a:rPr>
                        <a:t>[14] </a:t>
                      </a:r>
                      <a:endParaRPr lang="en-IN" sz="10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69850" marR="139065" indent="-6350" algn="just">
                        <a:lnSpc>
                          <a:spcPct val="107000"/>
                        </a:lnSpc>
                        <a:spcAft>
                          <a:spcPts val="25"/>
                        </a:spcAft>
                      </a:pPr>
                      <a:r>
                        <a:rPr lang="en-IN" sz="900" dirty="0">
                          <a:effectLst/>
                        </a:rPr>
                        <a:t>To compare data mining techniques for predicting employee churn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850" marR="118745" indent="-6350" algn="l">
                        <a:lnSpc>
                          <a:spcPct val="107000"/>
                        </a:lnSpc>
                        <a:spcAft>
                          <a:spcPts val="25"/>
                        </a:spcAft>
                      </a:pPr>
                      <a:r>
                        <a:rPr lang="en-IN" sz="900" dirty="0">
                          <a:effectLst/>
                        </a:rPr>
                        <a:t>Naïve Bayes, Support Vector </a:t>
                      </a:r>
                      <a:endParaRPr lang="en-IN" sz="1000" dirty="0">
                        <a:effectLst/>
                      </a:endParaRPr>
                    </a:p>
                    <a:p>
                      <a:pPr marL="69850" marR="118745" indent="-6350" algn="l">
                        <a:lnSpc>
                          <a:spcPct val="107000"/>
                        </a:lnSpc>
                        <a:spcAft>
                          <a:spcPts val="25"/>
                        </a:spcAft>
                      </a:pPr>
                      <a:r>
                        <a:rPr lang="en-IN" sz="900" dirty="0">
                          <a:effectLst/>
                        </a:rPr>
                        <a:t>Machines, Logistic </a:t>
                      </a:r>
                      <a:endParaRPr lang="en-IN" sz="1000" dirty="0">
                        <a:effectLst/>
                      </a:endParaRPr>
                    </a:p>
                    <a:p>
                      <a:pPr marL="69850" marR="118745" indent="-6350" algn="l">
                        <a:lnSpc>
                          <a:spcPct val="107000"/>
                        </a:lnSpc>
                        <a:spcAft>
                          <a:spcPts val="25"/>
                        </a:spcAft>
                      </a:pPr>
                      <a:r>
                        <a:rPr lang="en-IN" sz="900" dirty="0">
                          <a:effectLst/>
                        </a:rPr>
                        <a:t>Regression, Decision Trees and </a:t>
                      </a:r>
                      <a:endParaRPr lang="en-IN" sz="1000" dirty="0">
                        <a:effectLst/>
                      </a:endParaRPr>
                    </a:p>
                    <a:p>
                      <a:pPr marL="69850" marR="118745" indent="-6350" algn="l">
                        <a:lnSpc>
                          <a:spcPct val="107000"/>
                        </a:lnSpc>
                        <a:spcAft>
                          <a:spcPts val="25"/>
                        </a:spcAft>
                      </a:pP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9850" marR="118745" indent="-6350" algn="l">
                        <a:lnSpc>
                          <a:spcPct val="107000"/>
                        </a:lnSpc>
                        <a:spcAft>
                          <a:spcPts val="25"/>
                        </a:spcAft>
                      </a:pPr>
                      <a:r>
                        <a:rPr lang="en-IN" sz="900" dirty="0">
                          <a:effectLst/>
                        </a:rPr>
                        <a:t>Support Vector </a:t>
                      </a:r>
                      <a:endParaRPr lang="en-IN" sz="1000" dirty="0">
                        <a:effectLst/>
                      </a:endParaRPr>
                    </a:p>
                    <a:p>
                      <a:pPr marL="69850" marR="118745" indent="-6350" algn="l">
                        <a:lnSpc>
                          <a:spcPct val="107000"/>
                        </a:lnSpc>
                        <a:spcAft>
                          <a:spcPts val="25"/>
                        </a:spcAft>
                      </a:pPr>
                      <a:r>
                        <a:rPr lang="en-IN" sz="900" dirty="0">
                          <a:effectLst/>
                        </a:rPr>
                        <a:t>Machines </a:t>
                      </a:r>
                      <a:endParaRPr lang="en-IN" sz="1000" dirty="0">
                        <a:effectLst/>
                      </a:endParaRPr>
                    </a:p>
                    <a:p>
                      <a:pPr marL="69850" marR="118745" indent="-6350" algn="l">
                        <a:lnSpc>
                          <a:spcPct val="107000"/>
                        </a:lnSpc>
                        <a:spcAft>
                          <a:spcPts val="25"/>
                        </a:spcAft>
                      </a:pPr>
                      <a:r>
                        <a:rPr lang="en-IN" sz="900" dirty="0">
                          <a:effectLst/>
                        </a:rPr>
                        <a:t> </a:t>
                      </a:r>
                      <a:endParaRPr lang="en-IN" sz="1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785850"/>
                  </a:ext>
                </a:extLst>
              </a:tr>
            </a:tbl>
          </a:graphicData>
        </a:graphic>
      </p:graphicFrame>
    </p:spTree>
    <p:extLst>
      <p:ext uri="{BB962C8B-B14F-4D97-AF65-F5344CB8AC3E}">
        <p14:creationId xmlns:p14="http://schemas.microsoft.com/office/powerpoint/2010/main" val="3544200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C157-66E3-4408-A682-18C4436C7674}"/>
              </a:ext>
            </a:extLst>
          </p:cNvPr>
          <p:cNvSpPr>
            <a:spLocks noGrp="1"/>
          </p:cNvSpPr>
          <p:nvPr>
            <p:ph type="title"/>
          </p:nvPr>
        </p:nvSpPr>
        <p:spPr>
          <a:xfrm>
            <a:off x="3209192" y="457199"/>
            <a:ext cx="5108331" cy="553915"/>
          </a:xfrm>
        </p:spPr>
        <p:txBody>
          <a:bodyPr>
            <a:normAutofit fontScale="90000"/>
          </a:bodyPr>
          <a:lstStyle/>
          <a:p>
            <a:r>
              <a:rPr lang="en-US" dirty="0"/>
              <a:t>EXISTING SYSTEM</a:t>
            </a:r>
            <a:endParaRPr lang="en-IN" dirty="0"/>
          </a:p>
        </p:txBody>
      </p:sp>
      <p:sp>
        <p:nvSpPr>
          <p:cNvPr id="3" name="Content Placeholder 2">
            <a:extLst>
              <a:ext uri="{FF2B5EF4-FFF2-40B4-BE49-F238E27FC236}">
                <a16:creationId xmlns:a16="http://schemas.microsoft.com/office/drawing/2014/main" id="{7409D062-160A-43C7-9CDD-C22AB6115FBB}"/>
              </a:ext>
            </a:extLst>
          </p:cNvPr>
          <p:cNvSpPr>
            <a:spLocks noGrp="1"/>
          </p:cNvSpPr>
          <p:nvPr>
            <p:ph idx="1"/>
          </p:nvPr>
        </p:nvSpPr>
        <p:spPr>
          <a:xfrm>
            <a:off x="685800" y="1688124"/>
            <a:ext cx="10820400" cy="4413738"/>
          </a:xfrm>
        </p:spPr>
        <p:txBody>
          <a:bodyPr>
            <a:normAutofit/>
          </a:bodyPr>
          <a:lstStyle/>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Employee attrition prediction by using various classification algorithms like logistic regression, LDA, SVM, KNN to predict the probability of attrition of any new employee.</a:t>
            </a:r>
          </a:p>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Deep learning technique along with some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preprocessing</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steps to improve the prediction of employee attrition. </a:t>
            </a:r>
          </a:p>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Several factors lead to employee attrition. </a:t>
            </a:r>
          </a:p>
          <a:p>
            <a:r>
              <a:rPr lang="en-IN" sz="2400" dirty="0">
                <a:effectLst/>
                <a:latin typeface="Times New Roman" panose="02020603050405020304" pitchFamily="18" charset="0"/>
                <a:ea typeface="Calibri" panose="020F0502020204030204" pitchFamily="34" charset="0"/>
                <a:cs typeface="Times New Roman" panose="02020603050405020304" pitchFamily="18" charset="0"/>
              </a:rPr>
              <a:t>Such factors are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analyzed</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to reveal their intercorrelation and to demonstrate the dominant ones.</a:t>
            </a:r>
          </a:p>
          <a:p>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131368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2A381-C080-4124-A5E8-C7883EB889F4}"/>
              </a:ext>
            </a:extLst>
          </p:cNvPr>
          <p:cNvSpPr>
            <a:spLocks noGrp="1"/>
          </p:cNvSpPr>
          <p:nvPr>
            <p:ph type="title"/>
          </p:nvPr>
        </p:nvSpPr>
        <p:spPr>
          <a:xfrm>
            <a:off x="3965330" y="639316"/>
            <a:ext cx="4791807" cy="538854"/>
          </a:xfrm>
        </p:spPr>
        <p:txBody>
          <a:bodyPr>
            <a:normAutofit fontScale="90000"/>
          </a:bodyPr>
          <a:lstStyle/>
          <a:p>
            <a:r>
              <a:rPr lang="en-US" dirty="0"/>
              <a:t>PROPOSED SYSTEM</a:t>
            </a:r>
            <a:endParaRPr lang="en-IN" dirty="0"/>
          </a:p>
        </p:txBody>
      </p:sp>
      <p:sp>
        <p:nvSpPr>
          <p:cNvPr id="3" name="Content Placeholder 2">
            <a:extLst>
              <a:ext uri="{FF2B5EF4-FFF2-40B4-BE49-F238E27FC236}">
                <a16:creationId xmlns:a16="http://schemas.microsoft.com/office/drawing/2014/main" id="{D8CD2B79-0B41-427A-A90C-74C41FC009AB}"/>
              </a:ext>
            </a:extLst>
          </p:cNvPr>
          <p:cNvSpPr>
            <a:spLocks noGrp="1"/>
          </p:cNvSpPr>
          <p:nvPr>
            <p:ph idx="1"/>
          </p:nvPr>
        </p:nvSpPr>
        <p:spPr>
          <a:xfrm>
            <a:off x="685800" y="1380392"/>
            <a:ext cx="10820400" cy="4838293"/>
          </a:xfrm>
        </p:spPr>
        <p:txBody>
          <a:bodyPr>
            <a:normAutofit lnSpcReduction="10000"/>
          </a:bodyPr>
          <a:lstStyle/>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Employee attrition prediction like Random Forest algorithm to predict the probability of attrition of any new employee.</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As a result, training balanced dataset with Random Forest achieved highest performance with </a:t>
            </a:r>
            <a:r>
              <a:rPr lang="en-IN" sz="2400" dirty="0">
                <a:latin typeface="Times New Roman" panose="02020603050405020304" pitchFamily="18" charset="0"/>
                <a:ea typeface="Calibri" panose="020F0502020204030204" pitchFamily="34" charset="0"/>
                <a:cs typeface="Times New Roman" panose="02020603050405020304" pitchFamily="18" charset="0"/>
              </a:rPr>
              <a:t>highest accuracy.</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This was tested using the imbalanced dataset, which contains 35 features for 1470 employees.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To get realistic results, balanced version from the original one has been derived.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Finally, cross-validation is implemented to evaluate the work precisely.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Extensive experiments have been conducted to show the practical value of our work.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The prediction accuracy using the original dataset is about 91%, whereas it is about 94% using a synthetic dataset.</a:t>
            </a:r>
          </a:p>
          <a:p>
            <a:pPr marL="0" indent="0">
              <a:buNone/>
            </a:pPr>
            <a:endParaRPr lang="en-IN" dirty="0"/>
          </a:p>
        </p:txBody>
      </p:sp>
    </p:spTree>
    <p:extLst>
      <p:ext uri="{BB962C8B-B14F-4D97-AF65-F5344CB8AC3E}">
        <p14:creationId xmlns:p14="http://schemas.microsoft.com/office/powerpoint/2010/main" val="4159868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A0D90-64BD-44F9-BA5D-204173A42FC9}"/>
              </a:ext>
            </a:extLst>
          </p:cNvPr>
          <p:cNvSpPr>
            <a:spLocks noGrp="1"/>
          </p:cNvSpPr>
          <p:nvPr>
            <p:ph type="title"/>
          </p:nvPr>
        </p:nvSpPr>
        <p:spPr>
          <a:xfrm>
            <a:off x="2895600" y="639316"/>
            <a:ext cx="6855068" cy="521270"/>
          </a:xfrm>
        </p:spPr>
        <p:txBody>
          <a:bodyPr>
            <a:normAutofit fontScale="90000"/>
          </a:bodyPr>
          <a:lstStyle/>
          <a:p>
            <a:r>
              <a:rPr lang="en-US" dirty="0"/>
              <a:t>RANDOM FOREST ALGORITHM</a:t>
            </a:r>
            <a:endParaRPr lang="en-IN" dirty="0"/>
          </a:p>
        </p:txBody>
      </p:sp>
      <p:sp>
        <p:nvSpPr>
          <p:cNvPr id="3" name="Content Placeholder 2">
            <a:extLst>
              <a:ext uri="{FF2B5EF4-FFF2-40B4-BE49-F238E27FC236}">
                <a16:creationId xmlns:a16="http://schemas.microsoft.com/office/drawing/2014/main" id="{8BC268F6-EEDD-42B2-B507-91DDE66D78C2}"/>
              </a:ext>
            </a:extLst>
          </p:cNvPr>
          <p:cNvSpPr>
            <a:spLocks noGrp="1"/>
          </p:cNvSpPr>
          <p:nvPr>
            <p:ph idx="1"/>
          </p:nvPr>
        </p:nvSpPr>
        <p:spPr>
          <a:xfrm>
            <a:off x="316524" y="1723292"/>
            <a:ext cx="7192107" cy="4360985"/>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Random Forest is a supervised learning algorithm which is used for both classification and regression problems.</a:t>
            </a:r>
          </a:p>
          <a:p>
            <a:pPr algn="just"/>
            <a:r>
              <a:rPr lang="en-US" dirty="0">
                <a:latin typeface="Times New Roman" panose="02020603050405020304" pitchFamily="18" charset="0"/>
                <a:cs typeface="Times New Roman" panose="02020603050405020304" pitchFamily="18" charset="0"/>
              </a:rPr>
              <a:t>It is an ensemble of Decision trees.</a:t>
            </a:r>
          </a:p>
          <a:p>
            <a:pPr algn="just"/>
            <a:r>
              <a:rPr lang="en-US" dirty="0">
                <a:latin typeface="Times New Roman" panose="02020603050405020304" pitchFamily="18" charset="0"/>
                <a:cs typeface="Times New Roman" panose="02020603050405020304" pitchFamily="18" charset="0"/>
              </a:rPr>
              <a:t>Random forest is a classifier that contains a number of decision trees on various subsets of the given dataset and takes the average to improve the predictive accuracy of that dataset.</a:t>
            </a:r>
          </a:p>
          <a:p>
            <a:pPr algn="just"/>
            <a:r>
              <a:rPr lang="en-US" dirty="0">
                <a:latin typeface="Times New Roman" panose="02020603050405020304" pitchFamily="18" charset="0"/>
                <a:cs typeface="Times New Roman" panose="02020603050405020304" pitchFamily="18" charset="0"/>
              </a:rPr>
              <a:t>The datasets are split into two subsets.</a:t>
            </a:r>
          </a:p>
          <a:p>
            <a:pPr algn="just"/>
            <a:r>
              <a:rPr lang="en-US" dirty="0">
                <a:latin typeface="Times New Roman" panose="02020603050405020304" pitchFamily="18" charset="0"/>
                <a:cs typeface="Times New Roman" panose="02020603050405020304" pitchFamily="18" charset="0"/>
              </a:rPr>
              <a:t>The first subset is known as Training dataset.</a:t>
            </a:r>
          </a:p>
          <a:p>
            <a:pPr algn="just"/>
            <a:r>
              <a:rPr lang="en-US" dirty="0">
                <a:latin typeface="Times New Roman" panose="02020603050405020304" pitchFamily="18" charset="0"/>
                <a:cs typeface="Times New Roman" panose="02020603050405020304" pitchFamily="18" charset="0"/>
              </a:rPr>
              <a:t>The second subset is known as Testing dataset.</a:t>
            </a:r>
          </a:p>
        </p:txBody>
      </p:sp>
      <p:pic>
        <p:nvPicPr>
          <p:cNvPr id="5" name="Picture 4">
            <a:extLst>
              <a:ext uri="{FF2B5EF4-FFF2-40B4-BE49-F238E27FC236}">
                <a16:creationId xmlns:a16="http://schemas.microsoft.com/office/drawing/2014/main" id="{B4B36E76-717E-4B04-A547-DFF1A8AB5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5153" y="1523999"/>
            <a:ext cx="3851031" cy="4059115"/>
          </a:xfrm>
          <a:prstGeom prst="rect">
            <a:avLst/>
          </a:prstGeom>
        </p:spPr>
      </p:pic>
    </p:spTree>
    <p:extLst>
      <p:ext uri="{BB962C8B-B14F-4D97-AF65-F5344CB8AC3E}">
        <p14:creationId xmlns:p14="http://schemas.microsoft.com/office/powerpoint/2010/main" val="146956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3099" y="193728"/>
            <a:ext cx="3975315" cy="1177872"/>
          </a:xfrm>
        </p:spPr>
        <p:txBody>
          <a:bodyPr>
            <a:normAutofit/>
          </a:bodyPr>
          <a:lstStyle/>
          <a:p>
            <a:r>
              <a:rPr lang="en-US" sz="3600" dirty="0"/>
              <a:t>MODULES</a:t>
            </a:r>
            <a:endParaRPr lang="en-IN" sz="3600" dirty="0"/>
          </a:p>
        </p:txBody>
      </p:sp>
      <p:sp>
        <p:nvSpPr>
          <p:cNvPr id="3" name="Content Placeholder 2"/>
          <p:cNvSpPr>
            <a:spLocks noGrp="1"/>
          </p:cNvSpPr>
          <p:nvPr>
            <p:ph idx="1"/>
          </p:nvPr>
        </p:nvSpPr>
        <p:spPr>
          <a:xfrm>
            <a:off x="685800" y="1480089"/>
            <a:ext cx="10820400" cy="4579748"/>
          </a:xfrm>
        </p:spPr>
        <p:txBody>
          <a:bodyPr>
            <a:normAutofit/>
          </a:bodyPr>
          <a:lstStyle/>
          <a:p>
            <a:pPr marL="0" indent="0">
              <a:buNone/>
            </a:pPr>
            <a:r>
              <a:rPr lang="en-US" dirty="0">
                <a:latin typeface="Times New Roman" pitchFamily="18" charset="0"/>
                <a:cs typeface="Times New Roman" pitchFamily="18" charset="0"/>
              </a:rPr>
              <a:t>1.</a:t>
            </a:r>
            <a:r>
              <a:rPr lang="en-US" sz="2400" dirty="0">
                <a:latin typeface="Times New Roman" pitchFamily="18" charset="0"/>
                <a:cs typeface="Times New Roman" pitchFamily="18" charset="0"/>
              </a:rPr>
              <a:t>Importing  libraries that will be used throughout this program.</a:t>
            </a:r>
          </a:p>
          <a:p>
            <a:pPr marL="0" indent="0" algn="just">
              <a:buNone/>
            </a:pPr>
            <a:r>
              <a:rPr lang="en-US" sz="2400" dirty="0">
                <a:latin typeface="Times New Roman" pitchFamily="18" charset="0"/>
                <a:cs typeface="Times New Roman" pitchFamily="18" charset="0"/>
              </a:rPr>
              <a:t>     i. </a:t>
            </a:r>
            <a:r>
              <a:rPr lang="en-US" sz="2400" dirty="0" err="1">
                <a:latin typeface="Times New Roman" panose="02020603050405020304" pitchFamily="18" charset="0"/>
                <a:cs typeface="Times New Roman" pitchFamily="18" charset="0"/>
              </a:rPr>
              <a:t>numpy</a:t>
            </a:r>
            <a:endParaRPr lang="en-US" sz="2400" dirty="0">
              <a:latin typeface="Times New Roman" pitchFamily="18" charset="0"/>
              <a:cs typeface="Times New Roman" pitchFamily="18" charset="0"/>
            </a:endParaRPr>
          </a:p>
          <a:p>
            <a:pPr marL="0" indent="0" algn="just">
              <a:buNone/>
            </a:pPr>
            <a:r>
              <a:rPr lang="en-US" sz="2400" dirty="0">
                <a:latin typeface="Times New Roman" pitchFamily="18" charset="0"/>
                <a:cs typeface="Times New Roman" pitchFamily="18" charset="0"/>
              </a:rPr>
              <a:t>     ii. pandas</a:t>
            </a:r>
          </a:p>
          <a:p>
            <a:pPr marL="0" indent="0" algn="just">
              <a:buNone/>
            </a:pPr>
            <a:r>
              <a:rPr lang="en-US" sz="2400" dirty="0">
                <a:latin typeface="Times New Roman" pitchFamily="18" charset="0"/>
                <a:cs typeface="Times New Roman" pitchFamily="18" charset="0"/>
              </a:rPr>
              <a:t>     iii. </a:t>
            </a:r>
            <a:r>
              <a:rPr lang="en-US" sz="2400" dirty="0" err="1">
                <a:latin typeface="Times New Roman" panose="02020603050405020304" pitchFamily="18" charset="0"/>
                <a:cs typeface="Times New Roman" pitchFamily="18" charset="0"/>
              </a:rPr>
              <a:t>seaborn</a:t>
            </a:r>
            <a:endParaRPr lang="en-US" sz="2400" dirty="0">
              <a:latin typeface="Times New Roman" pitchFamily="18" charset="0"/>
              <a:cs typeface="Times New Roman" pitchFamily="18" charset="0"/>
            </a:endParaRPr>
          </a:p>
          <a:p>
            <a:pPr marL="0" indent="0" algn="just">
              <a:buNone/>
            </a:pPr>
            <a:r>
              <a:rPr lang="en-US" sz="2400" dirty="0">
                <a:latin typeface="Times New Roman" pitchFamily="18" charset="0"/>
                <a:cs typeface="Times New Roman" pitchFamily="18" charset="0"/>
              </a:rPr>
              <a:t>2.</a:t>
            </a:r>
            <a:r>
              <a:rPr lang="en-IN" sz="2400" dirty="0">
                <a:latin typeface="Times New Roman" panose="02020603050405020304" pitchFamily="18" charset="0"/>
                <a:cs typeface="Times New Roman" pitchFamily="18" charset="0"/>
              </a:rPr>
              <a:t> Loading the data.</a:t>
            </a:r>
          </a:p>
          <a:p>
            <a:pPr marL="0" indent="0" algn="just">
              <a:buNone/>
            </a:pPr>
            <a:r>
              <a:rPr lang="en-US" sz="2400" dirty="0">
                <a:latin typeface="Times New Roman" panose="02020603050405020304" pitchFamily="18" charset="0"/>
                <a:cs typeface="Times New Roman" pitchFamily="18" charset="0"/>
              </a:rPr>
              <a:t>3.</a:t>
            </a:r>
            <a:r>
              <a:rPr lang="en-IN" sz="2400" dirty="0">
                <a:latin typeface="Times New Roman" panose="02020603050405020304" pitchFamily="18" charset="0"/>
                <a:cs typeface="Times New Roman" pitchFamily="18" charset="0"/>
              </a:rPr>
              <a:t> </a:t>
            </a:r>
            <a:r>
              <a:rPr lang="en-US" sz="2400" dirty="0">
                <a:latin typeface="Times New Roman" panose="02020603050405020304" pitchFamily="18" charset="0"/>
                <a:cs typeface="Times New Roman" pitchFamily="18" charset="0"/>
              </a:rPr>
              <a:t>Storing the data into a </a:t>
            </a:r>
            <a:r>
              <a:rPr lang="en-US" sz="2400" dirty="0" err="1">
                <a:latin typeface="Times New Roman" panose="02020603050405020304" pitchFamily="18" charset="0"/>
                <a:cs typeface="Times New Roman" pitchFamily="18" charset="0"/>
              </a:rPr>
              <a:t>dataframe</a:t>
            </a:r>
            <a:r>
              <a:rPr lang="en-US" sz="2400" dirty="0">
                <a:latin typeface="Times New Roman" pitchFamily="18" charset="0"/>
                <a:cs typeface="Times New Roman" pitchFamily="18" charset="0"/>
              </a:rPr>
              <a:t>.</a:t>
            </a:r>
          </a:p>
          <a:p>
            <a:pPr marL="0" indent="0">
              <a:buNone/>
            </a:pPr>
            <a:r>
              <a:rPr lang="en-US" sz="2400" dirty="0">
                <a:latin typeface="Times New Roman" pitchFamily="18" charset="0"/>
                <a:cs typeface="Times New Roman" pitchFamily="18" charset="0"/>
              </a:rPr>
              <a:t>4.Get the number of rows and columns in the data.</a:t>
            </a:r>
          </a:p>
          <a:p>
            <a:pPr marL="0" indent="0">
              <a:buNone/>
            </a:pPr>
            <a:r>
              <a:rPr lang="en-US" sz="2400" dirty="0">
                <a:latin typeface="Times New Roman" pitchFamily="18" charset="0"/>
                <a:cs typeface="Times New Roman" pitchFamily="18" charset="0"/>
              </a:rPr>
              <a:t>       #There are 1470 rows of data or employees in the data set and 35 columns or data points on each employee. </a:t>
            </a:r>
          </a:p>
          <a:p>
            <a:pPr marL="0" indent="0" algn="just">
              <a:buNone/>
            </a:pPr>
            <a:endParaRPr lang="en-IN" dirty="0"/>
          </a:p>
        </p:txBody>
      </p:sp>
    </p:spTree>
    <p:extLst>
      <p:ext uri="{BB962C8B-B14F-4D97-AF65-F5344CB8AC3E}">
        <p14:creationId xmlns:p14="http://schemas.microsoft.com/office/powerpoint/2010/main" val="2059946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557939"/>
            <a:ext cx="10820400" cy="5873857"/>
          </a:xfrm>
        </p:spPr>
        <p:txBody>
          <a:bodyPr/>
          <a:lstStyle/>
          <a:p>
            <a:pPr marL="0" indent="0">
              <a:buNone/>
            </a:pPr>
            <a:r>
              <a:rPr lang="en-US" sz="1800" dirty="0">
                <a:latin typeface="Times New Roman" pitchFamily="18" charset="0"/>
                <a:cs typeface="Times New Roman" pitchFamily="18" charset="0"/>
              </a:rPr>
              <a:t>   5.</a:t>
            </a:r>
            <a:r>
              <a:rPr lang="en-US" sz="1800" b="1" i="1" dirty="0"/>
              <a:t> </a:t>
            </a:r>
            <a:r>
              <a:rPr lang="en-US" sz="2000" dirty="0">
                <a:latin typeface="Times New Roman" pitchFamily="18" charset="0"/>
                <a:cs typeface="Times New Roman" pitchFamily="18" charset="0"/>
              </a:rPr>
              <a:t>Get the column data types.</a:t>
            </a:r>
          </a:p>
          <a:p>
            <a:pPr marL="0" indent="0">
              <a:buNone/>
            </a:pPr>
            <a:endParaRPr lang="en-IN" sz="20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0603" y="1131375"/>
            <a:ext cx="2200760" cy="1774558"/>
          </a:xfrm>
          <a:prstGeom prst="rect">
            <a:avLst/>
          </a:prstGeom>
        </p:spPr>
      </p:pic>
      <p:sp>
        <p:nvSpPr>
          <p:cNvPr id="5" name="Rectangle 4"/>
          <p:cNvSpPr/>
          <p:nvPr/>
        </p:nvSpPr>
        <p:spPr>
          <a:xfrm>
            <a:off x="891153" y="3105835"/>
            <a:ext cx="8252847" cy="400110"/>
          </a:xfrm>
          <a:prstGeom prst="rect">
            <a:avLst/>
          </a:prstGeom>
        </p:spPr>
        <p:txBody>
          <a:bodyPr wrap="square">
            <a:spAutoFit/>
          </a:bodyPr>
          <a:lstStyle/>
          <a:p>
            <a:r>
              <a:rPr lang="en-US" sz="2000" dirty="0">
                <a:latin typeface="Times New Roman" pitchFamily="18" charset="0"/>
                <a:cs typeface="Times New Roman" pitchFamily="18" charset="0"/>
              </a:rPr>
              <a:t>6.Get a count of the number of empty values in each column.</a:t>
            </a:r>
            <a:endParaRPr lang="en-IN" sz="2000" dirty="0">
              <a:latin typeface="Times New Roman" pitchFamily="18" charset="0"/>
              <a:cs typeface="Times New Roman"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8651" y="3505946"/>
            <a:ext cx="2276475" cy="1949458"/>
          </a:xfrm>
          <a:prstGeom prst="rect">
            <a:avLst/>
          </a:prstGeom>
        </p:spPr>
      </p:pic>
      <p:sp>
        <p:nvSpPr>
          <p:cNvPr id="7" name="Rectangle 6"/>
          <p:cNvSpPr/>
          <p:nvPr/>
        </p:nvSpPr>
        <p:spPr>
          <a:xfrm>
            <a:off x="2056109" y="5578799"/>
            <a:ext cx="6096000" cy="584775"/>
          </a:xfrm>
          <a:prstGeom prst="rect">
            <a:avLst/>
          </a:prstGeom>
        </p:spPr>
        <p:txBody>
          <a:bodyPr>
            <a:spAutoFit/>
          </a:bodyPr>
          <a:lstStyle/>
          <a:p>
            <a:r>
              <a:rPr lang="en-US" sz="1600" dirty="0">
                <a:latin typeface="Times New Roman" pitchFamily="18" charset="0"/>
                <a:cs typeface="Times New Roman" pitchFamily="18" charset="0"/>
              </a:rPr>
              <a:t>Here there is no missing data since all of the columns are returning a value of 0. Let’s double check the data set for any missing values.</a:t>
            </a:r>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942690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47613"/>
            <a:ext cx="10820400" cy="4971072"/>
          </a:xfrm>
        </p:spPr>
        <p:txBody>
          <a:bodyPr/>
          <a:lstStyle/>
          <a:p>
            <a:pPr marL="0" indent="0">
              <a:buNone/>
            </a:pPr>
            <a:r>
              <a:rPr lang="en-US" sz="2000" dirty="0"/>
              <a:t>7. </a:t>
            </a:r>
            <a:r>
              <a:rPr lang="en-US" sz="2000" dirty="0">
                <a:latin typeface="Times New Roman" pitchFamily="18" charset="0"/>
                <a:cs typeface="Times New Roman" pitchFamily="18" charset="0"/>
              </a:rPr>
              <a:t>Double checking the data set for any missing values</a:t>
            </a:r>
            <a:r>
              <a:rPr lang="en-US" dirty="0">
                <a:latin typeface="Times New Roman" pitchFamily="18" charset="0"/>
                <a:cs typeface="Times New Roman" pitchFamily="18" charset="0"/>
              </a:rPr>
              <a:t>.</a:t>
            </a:r>
          </a:p>
          <a:p>
            <a:pPr marL="0" indent="0">
              <a:buNone/>
            </a:pPr>
            <a:endParaRPr lang="en-US" dirty="0"/>
          </a:p>
          <a:p>
            <a:pPr marL="0" indent="0">
              <a:buNone/>
            </a:pPr>
            <a:r>
              <a:rPr lang="en-US" sz="1600" dirty="0">
                <a:latin typeface="Times New Roman" pitchFamily="18" charset="0"/>
                <a:cs typeface="Times New Roman" pitchFamily="18" charset="0"/>
              </a:rPr>
              <a:t>                          returned a value = False, indicates that there are no missing values</a:t>
            </a:r>
          </a:p>
          <a:p>
            <a:pPr marL="0" indent="0">
              <a:buNone/>
            </a:pPr>
            <a:r>
              <a:rPr lang="en-US" sz="1600" dirty="0">
                <a:latin typeface="Times New Roman" pitchFamily="18" charset="0"/>
                <a:cs typeface="Times New Roman" pitchFamily="18" charset="0"/>
              </a:rPr>
              <a:t>8.</a:t>
            </a:r>
            <a:r>
              <a:rPr lang="en-US" sz="1600" dirty="0"/>
              <a:t> </a:t>
            </a:r>
            <a:r>
              <a:rPr lang="en-US" sz="2000" dirty="0">
                <a:latin typeface="Times New Roman" pitchFamily="18" charset="0"/>
                <a:cs typeface="Times New Roman" pitchFamily="18" charset="0"/>
              </a:rPr>
              <a:t>Viewing some basic statistics about the data like the percentile, mean , maximum, minimum etc.</a:t>
            </a:r>
          </a:p>
          <a:p>
            <a:pPr marL="0" indent="0">
              <a:buNone/>
            </a:pPr>
            <a:endParaRPr lang="en-IN" sz="20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8690" y="1974983"/>
            <a:ext cx="485775" cy="21907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8183" y="3071861"/>
            <a:ext cx="5091194" cy="1509793"/>
          </a:xfrm>
          <a:prstGeom prst="rect">
            <a:avLst/>
          </a:prstGeom>
        </p:spPr>
      </p:pic>
      <p:sp>
        <p:nvSpPr>
          <p:cNvPr id="6" name="Rectangle 5"/>
          <p:cNvSpPr/>
          <p:nvPr/>
        </p:nvSpPr>
        <p:spPr>
          <a:xfrm>
            <a:off x="728420" y="3719003"/>
            <a:ext cx="10779070" cy="1477328"/>
          </a:xfrm>
          <a:prstGeom prst="rect">
            <a:avLst/>
          </a:prstGeom>
        </p:spPr>
        <p:txBody>
          <a:bodyPr wrap="square">
            <a:spAutoFit/>
          </a:bodyPr>
          <a:lstStyle/>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9.Get a count of the number of employee attrition, the number of employees that stayed (no) and the number that left (yes) the company.</a:t>
            </a:r>
            <a:endParaRPr lang="en-IN" dirty="0">
              <a:latin typeface="Times New Roman" pitchFamily="18" charset="0"/>
              <a:cs typeface="Times New Roman" pitchFamily="18"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8191" y="5249140"/>
            <a:ext cx="2324100" cy="619125"/>
          </a:xfrm>
          <a:prstGeom prst="rect">
            <a:avLst/>
          </a:prstGeom>
        </p:spPr>
      </p:pic>
    </p:spTree>
    <p:extLst>
      <p:ext uri="{BB962C8B-B14F-4D97-AF65-F5344CB8AC3E}">
        <p14:creationId xmlns:p14="http://schemas.microsoft.com/office/powerpoint/2010/main" val="2051971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4803" y="542442"/>
            <a:ext cx="10820400" cy="5718874"/>
          </a:xfrm>
        </p:spPr>
        <p:txBody>
          <a:bodyPr>
            <a:normAutofit/>
          </a:bodyPr>
          <a:lstStyle/>
          <a:p>
            <a:pPr marL="0" indent="0">
              <a:buNone/>
            </a:pPr>
            <a:endParaRPr lang="en-US" sz="1800" dirty="0">
              <a:latin typeface="Times New Roman" pitchFamily="18" charset="0"/>
              <a:cs typeface="Times New Roman" pitchFamily="18" charset="0"/>
            </a:endParaRPr>
          </a:p>
          <a:p>
            <a:pPr marL="0" indent="0">
              <a:buNone/>
            </a:pPr>
            <a:r>
              <a:rPr lang="en-US" sz="1800" dirty="0">
                <a:latin typeface="Times New Roman" pitchFamily="18" charset="0"/>
                <a:cs typeface="Times New Roman" pitchFamily="18" charset="0"/>
              </a:rPr>
              <a:t>10.Now that we have the count, let’s get a visual of it.</a:t>
            </a:r>
          </a:p>
          <a:p>
            <a:pPr marL="0" indent="0">
              <a:buNone/>
            </a:pPr>
            <a:endParaRPr lang="en-IN" sz="1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487" y="1428993"/>
            <a:ext cx="3673098" cy="1624176"/>
          </a:xfrm>
          <a:prstGeom prst="rect">
            <a:avLst/>
          </a:prstGeom>
        </p:spPr>
      </p:pic>
      <p:sp>
        <p:nvSpPr>
          <p:cNvPr id="5" name="Rectangle 4"/>
          <p:cNvSpPr/>
          <p:nvPr/>
        </p:nvSpPr>
        <p:spPr>
          <a:xfrm>
            <a:off x="728420" y="3105835"/>
            <a:ext cx="9570204" cy="646331"/>
          </a:xfrm>
          <a:prstGeom prst="rect">
            <a:avLst/>
          </a:prstGeom>
        </p:spPr>
        <p:txBody>
          <a:bodyPr wrap="square">
            <a:spAutoFit/>
          </a:bodyPr>
          <a:lstStyle/>
          <a:p>
            <a:r>
              <a:rPr lang="en-US" dirty="0">
                <a:latin typeface="Times New Roman" pitchFamily="18" charset="0"/>
                <a:cs typeface="Times New Roman" pitchFamily="18" charset="0"/>
              </a:rPr>
              <a:t>11.Show the number of employees that left and stayed at the company by age.</a:t>
            </a:r>
          </a:p>
          <a:p>
            <a:endParaRPr lang="en-IN" dirty="0">
              <a:latin typeface="Times New Roman" pitchFamily="18" charset="0"/>
              <a:cs typeface="Times New Roman"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6500" y="3632644"/>
            <a:ext cx="6667500" cy="1590876"/>
          </a:xfrm>
          <a:prstGeom prst="rect">
            <a:avLst/>
          </a:prstGeom>
        </p:spPr>
      </p:pic>
      <p:sp>
        <p:nvSpPr>
          <p:cNvPr id="7" name="Rectangle 6"/>
          <p:cNvSpPr/>
          <p:nvPr/>
        </p:nvSpPr>
        <p:spPr>
          <a:xfrm>
            <a:off x="883404" y="5330827"/>
            <a:ext cx="10748074" cy="338554"/>
          </a:xfrm>
          <a:prstGeom prst="rect">
            <a:avLst/>
          </a:prstGeom>
        </p:spPr>
        <p:txBody>
          <a:bodyPr wrap="square">
            <a:spAutoFit/>
          </a:bodyPr>
          <a:lstStyle/>
          <a:p>
            <a:r>
              <a:rPr lang="en-US" sz="1600" dirty="0">
                <a:latin typeface="Times New Roman" pitchFamily="18" charset="0"/>
                <a:cs typeface="Times New Roman" pitchFamily="18" charset="0"/>
              </a:rPr>
              <a:t>Here  the age with the highest count of employee attrition is age 29 &amp; 31. The age with the highest retention is age 34 &amp; 35.</a:t>
            </a:r>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3417562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658678"/>
            <a:ext cx="10820400" cy="5835112"/>
          </a:xfrm>
        </p:spPr>
        <p:txBody>
          <a:bodyPr/>
          <a:lstStyle/>
          <a:p>
            <a:pPr marL="0" indent="0">
              <a:buNone/>
            </a:pPr>
            <a:r>
              <a:rPr lang="en-US" sz="2000" dirty="0">
                <a:latin typeface="Times New Roman" pitchFamily="18" charset="0"/>
                <a:cs typeface="Times New Roman" pitchFamily="18" charset="0"/>
              </a:rPr>
              <a:t>12</a:t>
            </a:r>
            <a:r>
              <a:rPr lang="en-US" dirty="0">
                <a:latin typeface="Times New Roman" pitchFamily="18" charset="0"/>
                <a:cs typeface="Times New Roman" pitchFamily="18" charset="0"/>
              </a:rPr>
              <a:t>.</a:t>
            </a:r>
            <a:r>
              <a:rPr lang="en-US" dirty="0"/>
              <a:t> </a:t>
            </a:r>
            <a:r>
              <a:rPr lang="en-US" sz="2000" dirty="0">
                <a:latin typeface="Times New Roman" pitchFamily="18" charset="0"/>
                <a:cs typeface="Times New Roman" pitchFamily="18" charset="0"/>
              </a:rPr>
              <a:t>Print all of the object data types and print their unique values.</a:t>
            </a:r>
          </a:p>
          <a:p>
            <a:pPr marL="0" indent="0">
              <a:buNone/>
            </a:pPr>
            <a:endParaRPr lang="en-IN" sz="20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1788" y="1227650"/>
            <a:ext cx="6261315" cy="4326917"/>
          </a:xfrm>
          <a:prstGeom prst="rect">
            <a:avLst/>
          </a:prstGeom>
        </p:spPr>
      </p:pic>
      <p:sp>
        <p:nvSpPr>
          <p:cNvPr id="6" name="Rectangle 5"/>
          <p:cNvSpPr/>
          <p:nvPr/>
        </p:nvSpPr>
        <p:spPr>
          <a:xfrm>
            <a:off x="867905" y="5554567"/>
            <a:ext cx="6222569" cy="646331"/>
          </a:xfrm>
          <a:prstGeom prst="rect">
            <a:avLst/>
          </a:prstGeom>
        </p:spPr>
        <p:txBody>
          <a:bodyPr wrap="square">
            <a:spAutoFit/>
          </a:bodyPr>
          <a:lstStyle/>
          <a:p>
            <a:r>
              <a:rPr lang="en-IN" dirty="0">
                <a:latin typeface="Times New Roman" pitchFamily="18" charset="0"/>
                <a:cs typeface="Times New Roman" pitchFamily="18" charset="0"/>
              </a:rPr>
              <a:t>13.Remove unneeded columns</a:t>
            </a:r>
            <a:br>
              <a:rPr lang="en-IN" dirty="0">
                <a:latin typeface="Times New Roman" pitchFamily="18" charset="0"/>
                <a:cs typeface="Times New Roman" pitchFamily="18" charset="0"/>
              </a:rPr>
            </a:b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26503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604434"/>
            <a:ext cx="10820400" cy="5959098"/>
          </a:xfrm>
        </p:spPr>
        <p:txBody>
          <a:bodyPr/>
          <a:lstStyle/>
          <a:p>
            <a:pPr marL="0" indent="0">
              <a:buNone/>
            </a:pPr>
            <a:endParaRPr lang="en-US" sz="1800" dirty="0">
              <a:latin typeface="Times New Roman" pitchFamily="18" charset="0"/>
              <a:cs typeface="Times New Roman" pitchFamily="18" charset="0"/>
            </a:endParaRPr>
          </a:p>
          <a:p>
            <a:pPr marL="0" indent="0">
              <a:buNone/>
            </a:pPr>
            <a:r>
              <a:rPr lang="en-US" sz="1800" dirty="0">
                <a:latin typeface="Times New Roman" pitchFamily="18" charset="0"/>
                <a:cs typeface="Times New Roman" pitchFamily="18" charset="0"/>
              </a:rPr>
              <a:t>14.Getting the correlation of the columns.</a:t>
            </a:r>
          </a:p>
          <a:p>
            <a:pPr marL="0" indent="0">
              <a:buNone/>
            </a:pPr>
            <a:endParaRPr lang="en-US" dirty="0"/>
          </a:p>
          <a:p>
            <a:pPr marL="0" indent="0">
              <a:buNone/>
            </a:pPr>
            <a:endParaRPr lang="en-US" dirty="0"/>
          </a:p>
          <a:p>
            <a:pPr marL="0" indent="0">
              <a:buNone/>
            </a:pPr>
            <a:endParaRPr lang="en-US" dirty="0"/>
          </a:p>
          <a:p>
            <a:pPr marL="0" indent="0">
              <a:buNone/>
            </a:pPr>
            <a:r>
              <a:rPr lang="en-US" sz="2000" dirty="0">
                <a:latin typeface="Times New Roman" pitchFamily="18" charset="0"/>
                <a:cs typeface="Times New Roman" pitchFamily="18" charset="0"/>
              </a:rPr>
              <a:t>15.Visualizing the correlation by using a heat map</a:t>
            </a:r>
            <a:r>
              <a:rPr lang="en-US" dirty="0">
                <a:latin typeface="Times New Roman" pitchFamily="18" charset="0"/>
                <a:cs typeface="Times New Roman" pitchFamily="18" charset="0"/>
              </a:rPr>
              <a:t>.</a:t>
            </a:r>
          </a:p>
          <a:p>
            <a:pPr marL="0" indent="0">
              <a:buNone/>
            </a:pPr>
            <a:endParaRPr lang="en-IN"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1790" y="1301860"/>
            <a:ext cx="5765370" cy="189079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7804" y="3843903"/>
            <a:ext cx="6447294" cy="2735128"/>
          </a:xfrm>
          <a:prstGeom prst="rect">
            <a:avLst/>
          </a:prstGeom>
        </p:spPr>
      </p:pic>
    </p:spTree>
    <p:extLst>
      <p:ext uri="{BB962C8B-B14F-4D97-AF65-F5344CB8AC3E}">
        <p14:creationId xmlns:p14="http://schemas.microsoft.com/office/powerpoint/2010/main" val="2912746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518834"/>
            <a:ext cx="10820400" cy="4881966"/>
          </a:xfrm>
        </p:spPr>
        <p:txBody>
          <a:bodyPr/>
          <a:lstStyle/>
          <a:p>
            <a:pPr marL="0" indent="0">
              <a:buNone/>
            </a:pPr>
            <a:r>
              <a:rPr lang="en-US" sz="2000" dirty="0">
                <a:latin typeface="Times New Roman" pitchFamily="18" charset="0"/>
                <a:cs typeface="Times New Roman" pitchFamily="18" charset="0"/>
              </a:rPr>
              <a:t>16.</a:t>
            </a:r>
            <a:r>
              <a:rPr lang="en-US" sz="2000" b="1" i="1" dirty="0">
                <a:latin typeface="Times New Roman" pitchFamily="18" charset="0"/>
                <a:cs typeface="Times New Roman" pitchFamily="18" charset="0"/>
              </a:rPr>
              <a:t> </a:t>
            </a:r>
            <a:r>
              <a:rPr lang="en-US" sz="1800" dirty="0" err="1">
                <a:latin typeface="Times New Roman" pitchFamily="18" charset="0"/>
                <a:cs typeface="Times New Roman" pitchFamily="18" charset="0"/>
              </a:rPr>
              <a:t>Spliting</a:t>
            </a:r>
            <a:r>
              <a:rPr lang="en-US" sz="1800" dirty="0">
                <a:latin typeface="Times New Roman" pitchFamily="18" charset="0"/>
                <a:cs typeface="Times New Roman" pitchFamily="18" charset="0"/>
              </a:rPr>
              <a:t> the dataset into 75% Training set and 25% Testing set.</a:t>
            </a:r>
          </a:p>
          <a:p>
            <a:pPr marL="0" indent="0">
              <a:buNone/>
            </a:pPr>
            <a:r>
              <a:rPr lang="en-US" sz="1800" dirty="0">
                <a:latin typeface="Times New Roman" pitchFamily="18" charset="0"/>
                <a:cs typeface="Times New Roman" pitchFamily="18" charset="0"/>
              </a:rPr>
              <a:t>17.</a:t>
            </a:r>
            <a:r>
              <a:rPr lang="en-US" sz="1800" dirty="0"/>
              <a:t> </a:t>
            </a:r>
            <a:r>
              <a:rPr lang="en-US" sz="1800" dirty="0">
                <a:latin typeface="Times New Roman" pitchFamily="18" charset="0"/>
                <a:cs typeface="Times New Roman" pitchFamily="18" charset="0"/>
              </a:rPr>
              <a:t>Now by using the Random Forest Classifier to learn from the training data and see how accurate it is on that data.</a:t>
            </a:r>
          </a:p>
          <a:p>
            <a:pPr marL="0" indent="0">
              <a:buNone/>
            </a:pPr>
            <a:r>
              <a:rPr lang="en-US" sz="1800" dirty="0">
                <a:latin typeface="Times New Roman" pitchFamily="18" charset="0"/>
                <a:cs typeface="Times New Roman" pitchFamily="18" charset="0"/>
              </a:rPr>
              <a:t>18.</a:t>
            </a:r>
            <a:r>
              <a:rPr lang="en-US" sz="1800" dirty="0"/>
              <a:t> </a:t>
            </a:r>
            <a:r>
              <a:rPr lang="en-US" sz="1800" dirty="0">
                <a:latin typeface="Times New Roman" pitchFamily="18" charset="0"/>
                <a:cs typeface="Times New Roman" pitchFamily="18" charset="0"/>
              </a:rPr>
              <a:t>Now get the accuracy of the model.</a:t>
            </a:r>
          </a:p>
          <a:p>
            <a:pPr marL="0" indent="0">
              <a:buNone/>
            </a:pPr>
            <a:endParaRPr lang="en-US" sz="1800" dirty="0">
              <a:latin typeface="Times New Roman" pitchFamily="18" charset="0"/>
              <a:cs typeface="Times New Roman" pitchFamily="18" charset="0"/>
            </a:endParaRPr>
          </a:p>
          <a:p>
            <a:pPr marL="0" indent="0">
              <a:buNone/>
            </a:pPr>
            <a:endParaRPr lang="en-US" sz="18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                                 The model is about 97.9% accurate on the training data</a:t>
            </a:r>
          </a:p>
          <a:p>
            <a:pPr marL="0" indent="0">
              <a:buNone/>
            </a:pPr>
            <a:r>
              <a:rPr lang="en-US" sz="1600" dirty="0">
                <a:latin typeface="Times New Roman" pitchFamily="18" charset="0"/>
                <a:cs typeface="Times New Roman" pitchFamily="18" charset="0"/>
              </a:rPr>
              <a:t>19.</a:t>
            </a:r>
            <a:r>
              <a:rPr lang="en-US" sz="1600" dirty="0"/>
              <a:t> </a:t>
            </a:r>
            <a:r>
              <a:rPr lang="en-US" sz="1800" dirty="0">
                <a:latin typeface="Times New Roman" pitchFamily="18" charset="0"/>
                <a:cs typeface="Times New Roman" pitchFamily="18" charset="0"/>
              </a:rPr>
              <a:t>Now Showing the confusion matrix and accuracy of the model.</a:t>
            </a:r>
          </a:p>
          <a:p>
            <a:pPr marL="0" indent="0">
              <a:buNone/>
            </a:pPr>
            <a:endParaRPr lang="en-US" sz="1800" dirty="0">
              <a:latin typeface="Times New Roman" pitchFamily="18" charset="0"/>
              <a:cs typeface="Times New Roman" pitchFamily="18" charset="0"/>
            </a:endParaRPr>
          </a:p>
          <a:p>
            <a:pPr marL="0" indent="0">
              <a:buNone/>
            </a:pPr>
            <a:endParaRPr lang="en-US" sz="18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                         </a:t>
            </a:r>
          </a:p>
          <a:p>
            <a:pPr marL="0" indent="0">
              <a:buNone/>
            </a:pPr>
            <a:r>
              <a:rPr lang="en-US" sz="1600" dirty="0">
                <a:latin typeface="Times New Roman" pitchFamily="18" charset="0"/>
                <a:cs typeface="Times New Roman" pitchFamily="18" charset="0"/>
              </a:rPr>
              <a:t>                  The model correctly identified 86.41% of the employees that left the company</a:t>
            </a:r>
            <a:r>
              <a:rPr lang="en-US" sz="1800"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5152" y="3006671"/>
            <a:ext cx="1881187" cy="51919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911" y="4122543"/>
            <a:ext cx="3762375" cy="852413"/>
          </a:xfrm>
          <a:prstGeom prst="rect">
            <a:avLst/>
          </a:prstGeom>
        </p:spPr>
      </p:pic>
    </p:spTree>
    <p:extLst>
      <p:ext uri="{BB962C8B-B14F-4D97-AF65-F5344CB8AC3E}">
        <p14:creationId xmlns:p14="http://schemas.microsoft.com/office/powerpoint/2010/main" val="845010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596686"/>
            <a:ext cx="10820400" cy="5622000"/>
          </a:xfrm>
        </p:spPr>
        <p:txBody>
          <a:bodyPr/>
          <a:lstStyle/>
          <a:p>
            <a:pPr marL="0" indent="0">
              <a:buNone/>
            </a:pPr>
            <a:r>
              <a:rPr lang="en-US" sz="2400" dirty="0">
                <a:latin typeface="Times New Roman" pitchFamily="18" charset="0"/>
                <a:cs typeface="Times New Roman" pitchFamily="18" charset="0"/>
              </a:rPr>
              <a:t>                     </a:t>
            </a:r>
            <a:r>
              <a:rPr lang="en-US" sz="1800" dirty="0">
                <a:latin typeface="Times New Roman" pitchFamily="18" charset="0"/>
                <a:cs typeface="Times New Roman" pitchFamily="18" charset="0"/>
              </a:rPr>
              <a:t>20.  Now let’s see what the model thinks the important features are.</a:t>
            </a:r>
            <a:endParaRPr lang="en-IN" sz="1800" dirty="0">
              <a:latin typeface="Times New Roman" pitchFamily="18" charset="0"/>
              <a:cs typeface="Times New Roman" pitchFamily="18" charset="0"/>
            </a:endParaRPr>
          </a:p>
          <a:p>
            <a:pPr marL="0" indent="0">
              <a:buNone/>
            </a:pPr>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3166" y="1115878"/>
            <a:ext cx="2374222" cy="3974868"/>
          </a:xfrm>
          <a:prstGeom prst="rect">
            <a:avLst/>
          </a:prstGeom>
        </p:spPr>
      </p:pic>
      <p:sp>
        <p:nvSpPr>
          <p:cNvPr id="5" name="TextBox 4">
            <a:extLst>
              <a:ext uri="{FF2B5EF4-FFF2-40B4-BE49-F238E27FC236}">
                <a16:creationId xmlns:a16="http://schemas.microsoft.com/office/drawing/2014/main" id="{D48E5402-4AE5-84E7-FBD9-5294253AE0AB}"/>
              </a:ext>
            </a:extLst>
          </p:cNvPr>
          <p:cNvSpPr txBox="1"/>
          <p:nvPr/>
        </p:nvSpPr>
        <p:spPr>
          <a:xfrm>
            <a:off x="2477233" y="5470050"/>
            <a:ext cx="6097464" cy="369332"/>
          </a:xfrm>
          <a:prstGeom prst="rect">
            <a:avLst/>
          </a:prstGeom>
          <a:noFill/>
        </p:spPr>
        <p:txBody>
          <a:bodyPr wrap="square">
            <a:spAutoFit/>
          </a:bodyPr>
          <a:lstStyle/>
          <a:p>
            <a:pPr marL="0" indent="0">
              <a:buNone/>
            </a:pPr>
            <a:r>
              <a:rPr lang="en-US" sz="1800" dirty="0">
                <a:latin typeface="Times New Roman" pitchFamily="18" charset="0"/>
                <a:cs typeface="Times New Roman" pitchFamily="18" charset="0"/>
              </a:rPr>
              <a:t> 21.</a:t>
            </a:r>
            <a:r>
              <a:rPr lang="en-IN" sz="1800" b="1" dirty="0">
                <a:latin typeface="Times New Roman" pitchFamily="18" charset="0"/>
                <a:cs typeface="Times New Roman" pitchFamily="18" charset="0"/>
              </a:rPr>
              <a:t> </a:t>
            </a:r>
            <a:r>
              <a:rPr lang="en-IN" sz="1800" dirty="0">
                <a:latin typeface="Times New Roman" pitchFamily="18" charset="0"/>
                <a:cs typeface="Times New Roman" pitchFamily="18" charset="0"/>
              </a:rPr>
              <a:t>Visualizing the importance</a:t>
            </a:r>
          </a:p>
        </p:txBody>
      </p:sp>
    </p:spTree>
    <p:extLst>
      <p:ext uri="{BB962C8B-B14F-4D97-AF65-F5344CB8AC3E}">
        <p14:creationId xmlns:p14="http://schemas.microsoft.com/office/powerpoint/2010/main" val="70277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5E9A5-08F6-433E-BEFF-A813D9A62585}"/>
              </a:ext>
            </a:extLst>
          </p:cNvPr>
          <p:cNvSpPr>
            <a:spLocks noGrp="1"/>
          </p:cNvSpPr>
          <p:nvPr>
            <p:ph type="title"/>
          </p:nvPr>
        </p:nvSpPr>
        <p:spPr>
          <a:xfrm>
            <a:off x="2895600" y="219809"/>
            <a:ext cx="5571392" cy="764929"/>
          </a:xfrm>
        </p:spPr>
        <p:txBody>
          <a:bodyPr/>
          <a:lstStyle/>
          <a:p>
            <a:r>
              <a:rPr lang="en-US" dirty="0"/>
              <a:t>Architecture</a:t>
            </a:r>
            <a:endParaRPr lang="en-IN" dirty="0"/>
          </a:p>
        </p:txBody>
      </p:sp>
      <p:sp>
        <p:nvSpPr>
          <p:cNvPr id="3" name="Content Placeholder 2">
            <a:extLst>
              <a:ext uri="{FF2B5EF4-FFF2-40B4-BE49-F238E27FC236}">
                <a16:creationId xmlns:a16="http://schemas.microsoft.com/office/drawing/2014/main" id="{A0F04CD0-0AD3-4CD4-AB03-B27E096F3581}"/>
              </a:ext>
            </a:extLst>
          </p:cNvPr>
          <p:cNvSpPr>
            <a:spLocks noGrp="1"/>
          </p:cNvSpPr>
          <p:nvPr>
            <p:ph idx="1"/>
          </p:nvPr>
        </p:nvSpPr>
        <p:spPr>
          <a:xfrm>
            <a:off x="225669" y="984739"/>
            <a:ext cx="11872546" cy="5653452"/>
          </a:xfrm>
        </p:spPr>
        <p:txBody>
          <a:bodyPr/>
          <a:lstStyle/>
          <a:p>
            <a:pPr marL="0" indent="0">
              <a:buNone/>
            </a:pPr>
            <a:endParaRPr lang="en-IN" dirty="0"/>
          </a:p>
        </p:txBody>
      </p:sp>
      <p:sp>
        <p:nvSpPr>
          <p:cNvPr id="4" name="Cylinder 3">
            <a:extLst>
              <a:ext uri="{FF2B5EF4-FFF2-40B4-BE49-F238E27FC236}">
                <a16:creationId xmlns:a16="http://schemas.microsoft.com/office/drawing/2014/main" id="{2AEEEE08-FD37-4EF8-AB24-B8525CAE69A4}"/>
              </a:ext>
            </a:extLst>
          </p:cNvPr>
          <p:cNvSpPr/>
          <p:nvPr/>
        </p:nvSpPr>
        <p:spPr>
          <a:xfrm>
            <a:off x="303335" y="984738"/>
            <a:ext cx="1327638" cy="1216152"/>
          </a:xfrm>
          <a:prstGeom prst="can">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rPr>
              <a:t>DATASET</a:t>
            </a:r>
            <a:endParaRPr lang="en-IN" b="1" dirty="0">
              <a:solidFill>
                <a:schemeClr val="bg1"/>
              </a:solidFill>
            </a:endParaRPr>
          </a:p>
        </p:txBody>
      </p:sp>
      <p:sp>
        <p:nvSpPr>
          <p:cNvPr id="5" name="Rectangle: Rounded Corners 4">
            <a:extLst>
              <a:ext uri="{FF2B5EF4-FFF2-40B4-BE49-F238E27FC236}">
                <a16:creationId xmlns:a16="http://schemas.microsoft.com/office/drawing/2014/main" id="{1D3CD034-54C6-4C58-9FFC-545F28447115}"/>
              </a:ext>
            </a:extLst>
          </p:cNvPr>
          <p:cNvSpPr/>
          <p:nvPr/>
        </p:nvSpPr>
        <p:spPr>
          <a:xfrm>
            <a:off x="2081212" y="1093058"/>
            <a:ext cx="1960685" cy="110783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REMOVE IRRELEVANT DATA</a:t>
            </a:r>
            <a:endParaRPr lang="en-IN" b="1" dirty="0">
              <a:solidFill>
                <a:schemeClr val="bg1"/>
              </a:solidFill>
            </a:endParaRPr>
          </a:p>
        </p:txBody>
      </p:sp>
      <p:sp>
        <p:nvSpPr>
          <p:cNvPr id="6" name="Rectangle: Rounded Corners 5">
            <a:extLst>
              <a:ext uri="{FF2B5EF4-FFF2-40B4-BE49-F238E27FC236}">
                <a16:creationId xmlns:a16="http://schemas.microsoft.com/office/drawing/2014/main" id="{242A73F9-C026-4375-BBD5-490CC67D46BB}"/>
              </a:ext>
            </a:extLst>
          </p:cNvPr>
          <p:cNvSpPr/>
          <p:nvPr/>
        </p:nvSpPr>
        <p:spPr>
          <a:xfrm>
            <a:off x="4552949" y="1189774"/>
            <a:ext cx="1790700"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TEST DATASET</a:t>
            </a:r>
            <a:endParaRPr lang="en-IN" b="1" dirty="0">
              <a:solidFill>
                <a:schemeClr val="bg1"/>
              </a:solidFill>
            </a:endParaRPr>
          </a:p>
        </p:txBody>
      </p:sp>
      <p:sp>
        <p:nvSpPr>
          <p:cNvPr id="7" name="Rectangle: Rounded Corners 6">
            <a:extLst>
              <a:ext uri="{FF2B5EF4-FFF2-40B4-BE49-F238E27FC236}">
                <a16:creationId xmlns:a16="http://schemas.microsoft.com/office/drawing/2014/main" id="{C18B4FEB-E92E-4246-9966-4ABEA0B4B526}"/>
              </a:ext>
            </a:extLst>
          </p:cNvPr>
          <p:cNvSpPr/>
          <p:nvPr/>
        </p:nvSpPr>
        <p:spPr>
          <a:xfrm>
            <a:off x="2081212" y="2549769"/>
            <a:ext cx="1960684"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TRAINING DATASET</a:t>
            </a:r>
            <a:endParaRPr lang="en-IN" b="1" dirty="0">
              <a:solidFill>
                <a:schemeClr val="bg1"/>
              </a:solidFill>
            </a:endParaRPr>
          </a:p>
        </p:txBody>
      </p:sp>
      <p:sp>
        <p:nvSpPr>
          <p:cNvPr id="8" name="Rectangle: Rounded Corners 7">
            <a:extLst>
              <a:ext uri="{FF2B5EF4-FFF2-40B4-BE49-F238E27FC236}">
                <a16:creationId xmlns:a16="http://schemas.microsoft.com/office/drawing/2014/main" id="{73669279-D605-4DA2-B9F1-B578FE8E4B38}"/>
              </a:ext>
            </a:extLst>
          </p:cNvPr>
          <p:cNvSpPr/>
          <p:nvPr/>
        </p:nvSpPr>
        <p:spPr>
          <a:xfrm>
            <a:off x="4574930" y="2571750"/>
            <a:ext cx="1790699"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IDENTIFY FEATURES</a:t>
            </a:r>
            <a:endParaRPr lang="en-IN" b="1" dirty="0">
              <a:solidFill>
                <a:schemeClr val="bg1"/>
              </a:solidFill>
            </a:endParaRPr>
          </a:p>
        </p:txBody>
      </p:sp>
      <p:sp>
        <p:nvSpPr>
          <p:cNvPr id="9" name="Rectangle: Rounded Corners 8">
            <a:extLst>
              <a:ext uri="{FF2B5EF4-FFF2-40B4-BE49-F238E27FC236}">
                <a16:creationId xmlns:a16="http://schemas.microsoft.com/office/drawing/2014/main" id="{0CB55337-A8A5-43AA-9ED2-BD77A6A83DEE}"/>
              </a:ext>
            </a:extLst>
          </p:cNvPr>
          <p:cNvSpPr/>
          <p:nvPr/>
        </p:nvSpPr>
        <p:spPr>
          <a:xfrm>
            <a:off x="7508631" y="2593244"/>
            <a:ext cx="2967403"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DATA PRE-PROCESSING</a:t>
            </a:r>
            <a:endParaRPr lang="en-IN" b="1" dirty="0">
              <a:solidFill>
                <a:schemeClr val="bg1"/>
              </a:solidFill>
            </a:endParaRPr>
          </a:p>
        </p:txBody>
      </p:sp>
      <p:sp>
        <p:nvSpPr>
          <p:cNvPr id="10" name="Rectangle: Rounded Corners 9">
            <a:extLst>
              <a:ext uri="{FF2B5EF4-FFF2-40B4-BE49-F238E27FC236}">
                <a16:creationId xmlns:a16="http://schemas.microsoft.com/office/drawing/2014/main" id="{0DC77CE9-172A-4816-8F81-E304590E9094}"/>
              </a:ext>
            </a:extLst>
          </p:cNvPr>
          <p:cNvSpPr/>
          <p:nvPr/>
        </p:nvSpPr>
        <p:spPr>
          <a:xfrm>
            <a:off x="9759462" y="5405071"/>
            <a:ext cx="2206869" cy="103749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PROVIDE RESULTS AND PREVENTITIVE STEPS</a:t>
            </a:r>
            <a:endParaRPr lang="en-IN" b="1" dirty="0">
              <a:solidFill>
                <a:schemeClr val="bg1"/>
              </a:solidFill>
            </a:endParaRPr>
          </a:p>
        </p:txBody>
      </p:sp>
      <p:sp>
        <p:nvSpPr>
          <p:cNvPr id="13" name="Rectangle: Rounded Corners 12">
            <a:extLst>
              <a:ext uri="{FF2B5EF4-FFF2-40B4-BE49-F238E27FC236}">
                <a16:creationId xmlns:a16="http://schemas.microsoft.com/office/drawing/2014/main" id="{83C6A7CF-6A17-4968-8E48-43F8F414000E}"/>
              </a:ext>
            </a:extLst>
          </p:cNvPr>
          <p:cNvSpPr/>
          <p:nvPr/>
        </p:nvSpPr>
        <p:spPr>
          <a:xfrm>
            <a:off x="7269040" y="5405071"/>
            <a:ext cx="1828801" cy="112102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DETECT FACTORS OF ATTRITION </a:t>
            </a:r>
            <a:endParaRPr lang="en-IN" b="1" dirty="0">
              <a:solidFill>
                <a:schemeClr val="bg1"/>
              </a:solidFill>
            </a:endParaRPr>
          </a:p>
        </p:txBody>
      </p:sp>
      <p:sp>
        <p:nvSpPr>
          <p:cNvPr id="14" name="Rectangle: Rounded Corners 13">
            <a:extLst>
              <a:ext uri="{FF2B5EF4-FFF2-40B4-BE49-F238E27FC236}">
                <a16:creationId xmlns:a16="http://schemas.microsoft.com/office/drawing/2014/main" id="{853CD025-9D8C-4DF1-BFC2-BA5546DE4B4F}"/>
              </a:ext>
            </a:extLst>
          </p:cNvPr>
          <p:cNvSpPr/>
          <p:nvPr/>
        </p:nvSpPr>
        <p:spPr>
          <a:xfrm>
            <a:off x="8093320" y="3978952"/>
            <a:ext cx="1666142"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RANDOM FOREST ALGORITHM</a:t>
            </a:r>
            <a:endParaRPr lang="en-IN" b="1" dirty="0">
              <a:solidFill>
                <a:schemeClr val="bg1"/>
              </a:solidFill>
            </a:endParaRPr>
          </a:p>
        </p:txBody>
      </p:sp>
      <p:cxnSp>
        <p:nvCxnSpPr>
          <p:cNvPr id="16" name="Straight Arrow Connector 15">
            <a:extLst>
              <a:ext uri="{FF2B5EF4-FFF2-40B4-BE49-F238E27FC236}">
                <a16:creationId xmlns:a16="http://schemas.microsoft.com/office/drawing/2014/main" id="{07B2E307-672F-41F3-97F8-7354009DB617}"/>
              </a:ext>
            </a:extLst>
          </p:cNvPr>
          <p:cNvCxnSpPr>
            <a:cxnSpLocks/>
            <a:stCxn id="4" idx="4"/>
          </p:cNvCxnSpPr>
          <p:nvPr/>
        </p:nvCxnSpPr>
        <p:spPr>
          <a:xfrm>
            <a:off x="1630973" y="1592814"/>
            <a:ext cx="450239" cy="0"/>
          </a:xfrm>
          <a:prstGeom prst="straightConnector1">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6AE4C658-B770-4707-A58B-C942FE6D3EB3}"/>
              </a:ext>
            </a:extLst>
          </p:cNvPr>
          <p:cNvCxnSpPr>
            <a:stCxn id="5" idx="3"/>
            <a:endCxn id="6" idx="1"/>
          </p:cNvCxnSpPr>
          <p:nvPr/>
        </p:nvCxnSpPr>
        <p:spPr>
          <a:xfrm>
            <a:off x="4041897" y="1646974"/>
            <a:ext cx="5110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1D0B58E-A0A5-47ED-90A7-FA0653595EE3}"/>
              </a:ext>
            </a:extLst>
          </p:cNvPr>
          <p:cNvCxnSpPr>
            <a:stCxn id="5" idx="2"/>
            <a:endCxn id="7" idx="0"/>
          </p:cNvCxnSpPr>
          <p:nvPr/>
        </p:nvCxnSpPr>
        <p:spPr>
          <a:xfrm flipH="1">
            <a:off x="3061554" y="2200890"/>
            <a:ext cx="1" cy="348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CE3AED3-E853-4B83-8729-58BAD1E94F25}"/>
              </a:ext>
            </a:extLst>
          </p:cNvPr>
          <p:cNvCxnSpPr>
            <a:cxnSpLocks/>
          </p:cNvCxnSpPr>
          <p:nvPr/>
        </p:nvCxnSpPr>
        <p:spPr>
          <a:xfrm>
            <a:off x="4053435" y="3015762"/>
            <a:ext cx="533034" cy="13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328BA81-D803-40A0-863B-F03B4D5FDCDC}"/>
              </a:ext>
            </a:extLst>
          </p:cNvPr>
          <p:cNvCxnSpPr>
            <a:cxnSpLocks/>
          </p:cNvCxnSpPr>
          <p:nvPr/>
        </p:nvCxnSpPr>
        <p:spPr>
          <a:xfrm>
            <a:off x="8776922" y="3507644"/>
            <a:ext cx="0" cy="459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65182FB-5D4A-47CC-9507-0F7246617011}"/>
              </a:ext>
            </a:extLst>
          </p:cNvPr>
          <p:cNvCxnSpPr>
            <a:cxnSpLocks/>
          </p:cNvCxnSpPr>
          <p:nvPr/>
        </p:nvCxnSpPr>
        <p:spPr>
          <a:xfrm>
            <a:off x="9097841" y="5873260"/>
            <a:ext cx="6616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0A68722-E8F5-9AF3-21E2-BD9DE0F50B36}"/>
              </a:ext>
            </a:extLst>
          </p:cNvPr>
          <p:cNvCxnSpPr>
            <a:cxnSpLocks/>
          </p:cNvCxnSpPr>
          <p:nvPr/>
        </p:nvCxnSpPr>
        <p:spPr>
          <a:xfrm>
            <a:off x="8440613" y="4926103"/>
            <a:ext cx="0" cy="4385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0FE572C-74F6-38A9-ACEA-BBCEEFCB00AE}"/>
              </a:ext>
            </a:extLst>
          </p:cNvPr>
          <p:cNvCxnSpPr>
            <a:cxnSpLocks/>
          </p:cNvCxnSpPr>
          <p:nvPr/>
        </p:nvCxnSpPr>
        <p:spPr>
          <a:xfrm>
            <a:off x="6365629" y="2976196"/>
            <a:ext cx="11329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8652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DESIGN</a:t>
            </a:r>
            <a:endParaRPr lang="en-IN" dirty="0"/>
          </a:p>
        </p:txBody>
      </p:sp>
      <p:sp>
        <p:nvSpPr>
          <p:cNvPr id="3" name="Content Placeholder 2"/>
          <p:cNvSpPr>
            <a:spLocks noGrp="1"/>
          </p:cNvSpPr>
          <p:nvPr>
            <p:ph idx="1"/>
          </p:nvPr>
        </p:nvSpPr>
        <p:spPr/>
        <p:txBody>
          <a:bodyPr/>
          <a:lstStyle/>
          <a:p>
            <a:pPr marL="0" indent="0">
              <a:buNone/>
            </a:pPr>
            <a:r>
              <a:rPr lang="en-US" dirty="0"/>
              <a:t> E-R DIAGRAM</a:t>
            </a:r>
            <a:endParaRPr lang="en-IN" dirty="0"/>
          </a:p>
        </p:txBody>
      </p:sp>
      <p:pic>
        <p:nvPicPr>
          <p:cNvPr id="5" name="Picture 4">
            <a:extLst>
              <a:ext uri="{FF2B5EF4-FFF2-40B4-BE49-F238E27FC236}">
                <a16:creationId xmlns:a16="http://schemas.microsoft.com/office/drawing/2014/main" id="{BB9F34A5-D163-11C0-C0CC-E85976AF7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1846" y="2338754"/>
            <a:ext cx="7376745" cy="4158761"/>
          </a:xfrm>
          <a:prstGeom prst="rect">
            <a:avLst/>
          </a:prstGeom>
        </p:spPr>
      </p:pic>
      <p:sp>
        <p:nvSpPr>
          <p:cNvPr id="6" name="Rectangle 5">
            <a:extLst>
              <a:ext uri="{FF2B5EF4-FFF2-40B4-BE49-F238E27FC236}">
                <a16:creationId xmlns:a16="http://schemas.microsoft.com/office/drawing/2014/main" id="{04F77CD3-84DA-3025-B7B6-00AD94A40B97}"/>
              </a:ext>
            </a:extLst>
          </p:cNvPr>
          <p:cNvSpPr/>
          <p:nvPr/>
        </p:nvSpPr>
        <p:spPr>
          <a:xfrm>
            <a:off x="2461846" y="5811715"/>
            <a:ext cx="2989385" cy="2373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22957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F053-AF65-4E22-9340-5E3D9FF8BC53}"/>
              </a:ext>
            </a:extLst>
          </p:cNvPr>
          <p:cNvSpPr>
            <a:spLocks noGrp="1"/>
          </p:cNvSpPr>
          <p:nvPr>
            <p:ph type="title"/>
          </p:nvPr>
        </p:nvSpPr>
        <p:spPr>
          <a:xfrm>
            <a:off x="2895600" y="281354"/>
            <a:ext cx="5404338" cy="729761"/>
          </a:xfrm>
        </p:spPr>
        <p:txBody>
          <a:bodyPr>
            <a:normAutofit fontScale="90000"/>
          </a:bodyPr>
          <a:lstStyle/>
          <a:p>
            <a:r>
              <a:rPr lang="en-US" dirty="0"/>
              <a:t>DATAFLOW DIAGRAM</a:t>
            </a:r>
            <a:endParaRPr lang="en-IN" dirty="0"/>
          </a:p>
        </p:txBody>
      </p:sp>
      <p:sp>
        <p:nvSpPr>
          <p:cNvPr id="3" name="Content Placeholder 2">
            <a:extLst>
              <a:ext uri="{FF2B5EF4-FFF2-40B4-BE49-F238E27FC236}">
                <a16:creationId xmlns:a16="http://schemas.microsoft.com/office/drawing/2014/main" id="{065B9FE0-D0C9-4E31-B1AC-7882B237D748}"/>
              </a:ext>
            </a:extLst>
          </p:cNvPr>
          <p:cNvSpPr>
            <a:spLocks noGrp="1"/>
          </p:cNvSpPr>
          <p:nvPr>
            <p:ph idx="1"/>
          </p:nvPr>
        </p:nvSpPr>
        <p:spPr>
          <a:xfrm>
            <a:off x="685800" y="1011115"/>
            <a:ext cx="10820400" cy="5706207"/>
          </a:xfrm>
        </p:spPr>
        <p:txBody>
          <a:bodyPr/>
          <a:lstStyle/>
          <a:p>
            <a:endParaRPr lang="en-IN" dirty="0"/>
          </a:p>
        </p:txBody>
      </p:sp>
      <p:sp>
        <p:nvSpPr>
          <p:cNvPr id="4" name="Rectangle: Rounded Corners 3">
            <a:extLst>
              <a:ext uri="{FF2B5EF4-FFF2-40B4-BE49-F238E27FC236}">
                <a16:creationId xmlns:a16="http://schemas.microsoft.com/office/drawing/2014/main" id="{5BBC7E4F-902B-4FED-8ABF-5F163FEED91F}"/>
              </a:ext>
            </a:extLst>
          </p:cNvPr>
          <p:cNvSpPr/>
          <p:nvPr/>
        </p:nvSpPr>
        <p:spPr>
          <a:xfrm>
            <a:off x="5591906" y="1107830"/>
            <a:ext cx="1072662" cy="4572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bg1"/>
                </a:solidFill>
              </a:rPr>
              <a:t>START</a:t>
            </a:r>
            <a:endParaRPr lang="en-IN" b="1" dirty="0">
              <a:solidFill>
                <a:schemeClr val="bg1"/>
              </a:solidFill>
            </a:endParaRPr>
          </a:p>
        </p:txBody>
      </p:sp>
      <p:sp>
        <p:nvSpPr>
          <p:cNvPr id="5" name="Rectangle: Rounded Corners 4">
            <a:extLst>
              <a:ext uri="{FF2B5EF4-FFF2-40B4-BE49-F238E27FC236}">
                <a16:creationId xmlns:a16="http://schemas.microsoft.com/office/drawing/2014/main" id="{EDACDC01-71AC-4D60-ABCD-885ADBFD34FD}"/>
              </a:ext>
            </a:extLst>
          </p:cNvPr>
          <p:cNvSpPr/>
          <p:nvPr/>
        </p:nvSpPr>
        <p:spPr>
          <a:xfrm>
            <a:off x="4360983" y="1820008"/>
            <a:ext cx="3534507" cy="75613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bg1"/>
                </a:solidFill>
              </a:rPr>
              <a:t>COLLECTING A PLURALITY OF ATTRIBUTES ASSOCIATED WITH EMPLOYEES</a:t>
            </a:r>
            <a:endParaRPr lang="en-IN" b="1" dirty="0">
              <a:solidFill>
                <a:schemeClr val="bg1"/>
              </a:solidFill>
            </a:endParaRPr>
          </a:p>
        </p:txBody>
      </p:sp>
      <p:sp>
        <p:nvSpPr>
          <p:cNvPr id="6" name="Rectangle: Rounded Corners 5">
            <a:extLst>
              <a:ext uri="{FF2B5EF4-FFF2-40B4-BE49-F238E27FC236}">
                <a16:creationId xmlns:a16="http://schemas.microsoft.com/office/drawing/2014/main" id="{73D17282-7F43-4486-976A-C8E954AAB2CB}"/>
              </a:ext>
            </a:extLst>
          </p:cNvPr>
          <p:cNvSpPr/>
          <p:nvPr/>
        </p:nvSpPr>
        <p:spPr>
          <a:xfrm>
            <a:off x="4360983" y="2831124"/>
            <a:ext cx="3534507" cy="9144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bg1"/>
                </a:solidFill>
              </a:rPr>
              <a:t>APPLYING MACHINE LEARNING ALGORITHM TO IDENTIFY THE PATTERN</a:t>
            </a:r>
            <a:endParaRPr lang="en-IN" b="1" dirty="0">
              <a:solidFill>
                <a:schemeClr val="bg1"/>
              </a:solidFill>
            </a:endParaRPr>
          </a:p>
        </p:txBody>
      </p:sp>
      <p:sp>
        <p:nvSpPr>
          <p:cNvPr id="7" name="Rectangle: Rounded Corners 6">
            <a:extLst>
              <a:ext uri="{FF2B5EF4-FFF2-40B4-BE49-F238E27FC236}">
                <a16:creationId xmlns:a16="http://schemas.microsoft.com/office/drawing/2014/main" id="{5A0231D8-0716-4575-8790-9FFC5B103F40}"/>
              </a:ext>
            </a:extLst>
          </p:cNvPr>
          <p:cNvSpPr/>
          <p:nvPr/>
        </p:nvSpPr>
        <p:spPr>
          <a:xfrm>
            <a:off x="4360984" y="3938954"/>
            <a:ext cx="3534506" cy="83526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bg1"/>
                </a:solidFill>
              </a:rPr>
              <a:t>USING THE IDENTIFIED PATTERN TO PREDICT THE REASON FOR THE ATTRITION</a:t>
            </a:r>
            <a:endParaRPr lang="en-IN" b="1" dirty="0">
              <a:solidFill>
                <a:schemeClr val="bg1"/>
              </a:solidFill>
            </a:endParaRPr>
          </a:p>
        </p:txBody>
      </p:sp>
      <p:sp>
        <p:nvSpPr>
          <p:cNvPr id="8" name="Rectangle: Rounded Corners 7">
            <a:extLst>
              <a:ext uri="{FF2B5EF4-FFF2-40B4-BE49-F238E27FC236}">
                <a16:creationId xmlns:a16="http://schemas.microsoft.com/office/drawing/2014/main" id="{BC918948-0B9C-4801-AC36-B508FF5BD8D3}"/>
              </a:ext>
            </a:extLst>
          </p:cNvPr>
          <p:cNvSpPr/>
          <p:nvPr/>
        </p:nvSpPr>
        <p:spPr>
          <a:xfrm>
            <a:off x="4360983" y="4967653"/>
            <a:ext cx="3534506" cy="9144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bg1"/>
                </a:solidFill>
              </a:rPr>
              <a:t>PROVIDING THE INFORMATION TO THE MANAGER</a:t>
            </a:r>
            <a:endParaRPr lang="en-IN" b="1" dirty="0">
              <a:solidFill>
                <a:schemeClr val="bg1"/>
              </a:solidFill>
            </a:endParaRPr>
          </a:p>
        </p:txBody>
      </p:sp>
      <p:sp>
        <p:nvSpPr>
          <p:cNvPr id="9" name="Rectangle: Rounded Corners 8">
            <a:extLst>
              <a:ext uri="{FF2B5EF4-FFF2-40B4-BE49-F238E27FC236}">
                <a16:creationId xmlns:a16="http://schemas.microsoft.com/office/drawing/2014/main" id="{004E723F-6381-4C23-80CF-C30D7178023A}"/>
              </a:ext>
            </a:extLst>
          </p:cNvPr>
          <p:cNvSpPr/>
          <p:nvPr/>
        </p:nvSpPr>
        <p:spPr>
          <a:xfrm>
            <a:off x="5671036" y="6163407"/>
            <a:ext cx="914400" cy="413239"/>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bg1"/>
                </a:solidFill>
              </a:rPr>
              <a:t>END</a:t>
            </a:r>
            <a:endParaRPr lang="en-IN" b="1" dirty="0">
              <a:solidFill>
                <a:schemeClr val="bg1"/>
              </a:solidFill>
            </a:endParaRPr>
          </a:p>
        </p:txBody>
      </p:sp>
      <p:cxnSp>
        <p:nvCxnSpPr>
          <p:cNvPr id="11" name="Straight Arrow Connector 10">
            <a:extLst>
              <a:ext uri="{FF2B5EF4-FFF2-40B4-BE49-F238E27FC236}">
                <a16:creationId xmlns:a16="http://schemas.microsoft.com/office/drawing/2014/main" id="{1FB98E88-96DD-4230-9565-C781D4894A24}"/>
              </a:ext>
            </a:extLst>
          </p:cNvPr>
          <p:cNvCxnSpPr>
            <a:stCxn id="4" idx="2"/>
            <a:endCxn id="5" idx="0"/>
          </p:cNvCxnSpPr>
          <p:nvPr/>
        </p:nvCxnSpPr>
        <p:spPr>
          <a:xfrm>
            <a:off x="6128237" y="1565030"/>
            <a:ext cx="0" cy="2549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F953A2C-AC96-4D9A-A991-171CC3A62EFB}"/>
              </a:ext>
            </a:extLst>
          </p:cNvPr>
          <p:cNvCxnSpPr>
            <a:stCxn id="5" idx="2"/>
            <a:endCxn id="6" idx="0"/>
          </p:cNvCxnSpPr>
          <p:nvPr/>
        </p:nvCxnSpPr>
        <p:spPr>
          <a:xfrm>
            <a:off x="6128237" y="2576146"/>
            <a:ext cx="0" cy="2549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9496E56-78E6-4A39-85FD-9EE0E15191FB}"/>
              </a:ext>
            </a:extLst>
          </p:cNvPr>
          <p:cNvCxnSpPr>
            <a:stCxn id="6" idx="2"/>
            <a:endCxn id="7" idx="0"/>
          </p:cNvCxnSpPr>
          <p:nvPr/>
        </p:nvCxnSpPr>
        <p:spPr>
          <a:xfrm>
            <a:off x="6128237" y="3745524"/>
            <a:ext cx="0" cy="1934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F58E1D0-6E58-4A89-AEB6-16BB6E3E7F30}"/>
              </a:ext>
            </a:extLst>
          </p:cNvPr>
          <p:cNvCxnSpPr>
            <a:stCxn id="7" idx="2"/>
            <a:endCxn id="8" idx="0"/>
          </p:cNvCxnSpPr>
          <p:nvPr/>
        </p:nvCxnSpPr>
        <p:spPr>
          <a:xfrm flipH="1">
            <a:off x="6128236" y="4774223"/>
            <a:ext cx="1" cy="1934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99F5937-CCC3-44F5-BDD4-AF26F2200979}"/>
              </a:ext>
            </a:extLst>
          </p:cNvPr>
          <p:cNvCxnSpPr>
            <a:stCxn id="8" idx="2"/>
            <a:endCxn id="9" idx="0"/>
          </p:cNvCxnSpPr>
          <p:nvPr/>
        </p:nvCxnSpPr>
        <p:spPr>
          <a:xfrm>
            <a:off x="6128236" y="5882053"/>
            <a:ext cx="0" cy="2813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4987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endParaRPr lang="en-IN" dirty="0"/>
          </a:p>
        </p:txBody>
      </p:sp>
      <p:pic>
        <p:nvPicPr>
          <p:cNvPr id="5" name="Content Placeholder 4">
            <a:extLst>
              <a:ext uri="{FF2B5EF4-FFF2-40B4-BE49-F238E27FC236}">
                <a16:creationId xmlns:a16="http://schemas.microsoft.com/office/drawing/2014/main" id="{080BF3BE-B170-FD69-95AF-BA91A1ADB1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71600" y="1600200"/>
            <a:ext cx="9398977" cy="4525963"/>
          </a:xfrm>
        </p:spPr>
      </p:pic>
    </p:spTree>
    <p:extLst>
      <p:ext uri="{BB962C8B-B14F-4D97-AF65-F5344CB8AC3E}">
        <p14:creationId xmlns:p14="http://schemas.microsoft.com/office/powerpoint/2010/main" val="2101785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a:t>
            </a:r>
            <a:endParaRPr lang="en-IN" dirty="0"/>
          </a:p>
        </p:txBody>
      </p:sp>
      <p:pic>
        <p:nvPicPr>
          <p:cNvPr id="5" name="Content Placeholder 4">
            <a:extLst>
              <a:ext uri="{FF2B5EF4-FFF2-40B4-BE49-F238E27FC236}">
                <a16:creationId xmlns:a16="http://schemas.microsoft.com/office/drawing/2014/main" id="{683E80C1-C69C-282E-D267-906330B9AE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1417638"/>
            <a:ext cx="9187961" cy="4868862"/>
          </a:xfrm>
        </p:spPr>
      </p:pic>
    </p:spTree>
    <p:extLst>
      <p:ext uri="{BB962C8B-B14F-4D97-AF65-F5344CB8AC3E}">
        <p14:creationId xmlns:p14="http://schemas.microsoft.com/office/powerpoint/2010/main" val="1612108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437" y="274637"/>
            <a:ext cx="11008963" cy="1290691"/>
          </a:xfrm>
        </p:spPr>
        <p:txBody>
          <a:bodyPr>
            <a:normAutofit fontScale="90000"/>
          </a:bodyPr>
          <a:lstStyle/>
          <a:p>
            <a:r>
              <a:rPr lang="en-US" dirty="0"/>
              <a:t>HARDWARE AND</a:t>
            </a:r>
            <a:br>
              <a:rPr lang="en-US" dirty="0"/>
            </a:br>
            <a:r>
              <a:rPr lang="en-US" dirty="0"/>
              <a:t>SOFTWARE REQUIREMENTS</a:t>
            </a:r>
            <a:br>
              <a:rPr lang="en-US" dirty="0"/>
            </a:b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US" u="sng" dirty="0">
                <a:latin typeface="Times New Roman" panose="02020603050405020304" pitchFamily="18" charset="0"/>
                <a:cs typeface="Times New Roman" panose="02020603050405020304" pitchFamily="18" charset="0"/>
              </a:rPr>
              <a:t>SOFTWARE REQUIREMENTS:</a:t>
            </a:r>
          </a:p>
          <a:p>
            <a:r>
              <a:rPr lang="en-US" dirty="0">
                <a:latin typeface="Times New Roman" panose="02020603050405020304" pitchFamily="18" charset="0"/>
                <a:cs typeface="Times New Roman" panose="02020603050405020304" pitchFamily="18" charset="0"/>
              </a:rPr>
              <a:t>GOOGLE COLLAB</a:t>
            </a:r>
          </a:p>
          <a:p>
            <a:r>
              <a:rPr lang="en-US" dirty="0">
                <a:latin typeface="Times New Roman" panose="02020603050405020304" pitchFamily="18" charset="0"/>
                <a:cs typeface="Times New Roman" panose="02020603050405020304" pitchFamily="18" charset="0"/>
              </a:rPr>
              <a:t>GOOGLE CHROME</a:t>
            </a:r>
          </a:p>
          <a:p>
            <a:pPr marL="0" indent="0">
              <a:buNone/>
            </a:pPr>
            <a:r>
              <a:rPr lang="en-US" u="sng" dirty="0">
                <a:latin typeface="Times New Roman" panose="02020603050405020304" pitchFamily="18" charset="0"/>
                <a:cs typeface="Times New Roman" panose="02020603050405020304" pitchFamily="18" charset="0"/>
              </a:rPr>
              <a:t>HARDWARE REQUIREMENTS:           </a:t>
            </a:r>
          </a:p>
          <a:p>
            <a:pPr fontAlgn="base"/>
            <a:r>
              <a:rPr lang="en-IN" dirty="0">
                <a:latin typeface="Times New Roman" panose="02020603050405020304" pitchFamily="18" charset="0"/>
                <a:cs typeface="Times New Roman" panose="02020603050405020304" pitchFamily="18" charset="0"/>
              </a:rPr>
              <a:t>n1-highmem-2 instance</a:t>
            </a:r>
          </a:p>
          <a:p>
            <a:pPr fontAlgn="base"/>
            <a:r>
              <a:rPr lang="en-IN" dirty="0">
                <a:latin typeface="Times New Roman" panose="02020603050405020304" pitchFamily="18" charset="0"/>
                <a:cs typeface="Times New Roman" panose="02020603050405020304" pitchFamily="18" charset="0"/>
              </a:rPr>
              <a:t>2vCPU @ 2.2GHz</a:t>
            </a:r>
          </a:p>
          <a:p>
            <a:pPr fontAlgn="base"/>
            <a:r>
              <a:rPr lang="en-IN" dirty="0">
                <a:latin typeface="Times New Roman" panose="02020603050405020304" pitchFamily="18" charset="0"/>
                <a:cs typeface="Times New Roman" panose="02020603050405020304" pitchFamily="18" charset="0"/>
              </a:rPr>
              <a:t>13GB RAM</a:t>
            </a:r>
          </a:p>
          <a:p>
            <a:pPr fontAlgn="base"/>
            <a:r>
              <a:rPr lang="en-IN" dirty="0">
                <a:latin typeface="Times New Roman" panose="02020603050405020304" pitchFamily="18" charset="0"/>
                <a:cs typeface="Times New Roman" panose="02020603050405020304" pitchFamily="18" charset="0"/>
              </a:rPr>
              <a:t>100GB Free Space</a:t>
            </a:r>
          </a:p>
          <a:p>
            <a:pPr fontAlgn="base"/>
            <a:r>
              <a:rPr lang="en-IN" dirty="0">
                <a:latin typeface="Times New Roman" panose="02020603050405020304" pitchFamily="18" charset="0"/>
                <a:cs typeface="Times New Roman" panose="02020603050405020304" pitchFamily="18" charset="0"/>
              </a:rPr>
              <a:t>idle cut-off 90 minutes</a:t>
            </a:r>
          </a:p>
          <a:p>
            <a:pPr fontAlgn="base"/>
            <a:r>
              <a:rPr lang="en-IN" dirty="0">
                <a:latin typeface="Times New Roman" panose="02020603050405020304" pitchFamily="18" charset="0"/>
                <a:cs typeface="Times New Roman" panose="02020603050405020304" pitchFamily="18" charset="0"/>
              </a:rPr>
              <a:t>maximum 12 hours</a:t>
            </a:r>
          </a:p>
          <a:p>
            <a:pPr fontAlgn="base"/>
            <a:r>
              <a:rPr lang="en-IN" dirty="0">
                <a:latin typeface="Times New Roman" panose="02020603050405020304" pitchFamily="18" charset="0"/>
                <a:cs typeface="Times New Roman" panose="02020603050405020304" pitchFamily="18" charset="0"/>
              </a:rPr>
              <a:t>GPU instance downgraded to 64GB disk space</a:t>
            </a:r>
          </a:p>
          <a:p>
            <a:endParaRPr lang="en-IN" u="sng" dirty="0"/>
          </a:p>
        </p:txBody>
      </p:sp>
    </p:spTree>
    <p:extLst>
      <p:ext uri="{BB962C8B-B14F-4D97-AF65-F5344CB8AC3E}">
        <p14:creationId xmlns:p14="http://schemas.microsoft.com/office/powerpoint/2010/main" val="2952738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EVALUATION</a:t>
            </a:r>
            <a:endParaRPr lang="en-IN" dirty="0"/>
          </a:p>
        </p:txBody>
      </p:sp>
      <p:sp>
        <p:nvSpPr>
          <p:cNvPr id="3" name="Content Placeholder 2"/>
          <p:cNvSpPr>
            <a:spLocks noGrp="1"/>
          </p:cNvSpPr>
          <p:nvPr>
            <p:ph idx="1"/>
          </p:nvPr>
        </p:nvSpPr>
        <p:spPr/>
        <p:txBody>
          <a:bodyPr>
            <a:normAutofit fontScale="92500" lnSpcReduction="20000"/>
          </a:bodyPr>
          <a:lstStyle/>
          <a:p>
            <a:pPr algn="l"/>
            <a:r>
              <a:rPr lang="en-US" b="0" i="0" dirty="0">
                <a:solidFill>
                  <a:srgbClr val="222222"/>
                </a:solidFill>
                <a:effectLst/>
                <a:latin typeface="Times New Roman" panose="02020603050405020304" pitchFamily="18" charset="0"/>
                <a:cs typeface="Times New Roman" panose="02020603050405020304" pitchFamily="18" charset="0"/>
              </a:rPr>
              <a:t>The dataset is a good representative of the general workforce in today's organizations. The result from the random forest classifier justify that the features chosen are causes that contribute to voluntary attrition.</a:t>
            </a:r>
          </a:p>
          <a:p>
            <a:pPr algn="l"/>
            <a:r>
              <a:rPr lang="en-US" b="0" i="0" dirty="0">
                <a:solidFill>
                  <a:srgbClr val="222222"/>
                </a:solidFill>
                <a:effectLst/>
                <a:latin typeface="Times New Roman" panose="02020603050405020304" pitchFamily="18" charset="0"/>
                <a:cs typeface="Times New Roman" panose="02020603050405020304" pitchFamily="18" charset="0"/>
              </a:rPr>
              <a:t>Intuitively, data points that are close to each other are likely to have the same outcome of attrition. This is the basis for choosing random forest algorithm. The random forest classifier has good accuracy values, the prediction accuracy using the original dataset is about 91%, whereas it is about 94% using a synthetic dataset. Instead of constructing a general model, it simply stores instances of the data and classifies by a majority vote of the classes.</a:t>
            </a:r>
          </a:p>
          <a:p>
            <a:endParaRPr lang="en-IN" dirty="0"/>
          </a:p>
        </p:txBody>
      </p:sp>
    </p:spTree>
    <p:extLst>
      <p:ext uri="{BB962C8B-B14F-4D97-AF65-F5344CB8AC3E}">
        <p14:creationId xmlns:p14="http://schemas.microsoft.com/office/powerpoint/2010/main" val="3116982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480AB-C44A-A5BB-BD52-8FFA06E66EFD}"/>
              </a:ext>
            </a:extLst>
          </p:cNvPr>
          <p:cNvSpPr>
            <a:spLocks noGrp="1"/>
          </p:cNvSpPr>
          <p:nvPr>
            <p:ph type="title"/>
          </p:nvPr>
        </p:nvSpPr>
        <p:spPr/>
        <p:txBody>
          <a:bodyPr/>
          <a:lstStyle/>
          <a:p>
            <a:r>
              <a:rPr lang="en-US" dirty="0"/>
              <a:t>SCREENSHOT</a:t>
            </a:r>
            <a:endParaRPr lang="en-IN" dirty="0"/>
          </a:p>
        </p:txBody>
      </p:sp>
      <p:pic>
        <p:nvPicPr>
          <p:cNvPr id="4" name="Content Placeholder 3">
            <a:extLst>
              <a:ext uri="{FF2B5EF4-FFF2-40B4-BE49-F238E27FC236}">
                <a16:creationId xmlns:a16="http://schemas.microsoft.com/office/drawing/2014/main" id="{C7255C35-9033-0778-B3E3-7E125073D9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15761" y="1811131"/>
            <a:ext cx="6339254" cy="3600450"/>
          </a:xfrm>
          <a:prstGeom prst="rect">
            <a:avLst/>
          </a:prstGeom>
        </p:spPr>
      </p:pic>
      <p:sp>
        <p:nvSpPr>
          <p:cNvPr id="6" name="TextBox 5">
            <a:extLst>
              <a:ext uri="{FF2B5EF4-FFF2-40B4-BE49-F238E27FC236}">
                <a16:creationId xmlns:a16="http://schemas.microsoft.com/office/drawing/2014/main" id="{F2695F03-E185-5D39-FA99-5B65F20ABFE8}"/>
              </a:ext>
            </a:extLst>
          </p:cNvPr>
          <p:cNvSpPr txBox="1"/>
          <p:nvPr/>
        </p:nvSpPr>
        <p:spPr>
          <a:xfrm>
            <a:off x="2672863" y="5690774"/>
            <a:ext cx="7631722" cy="646331"/>
          </a:xfrm>
          <a:prstGeom prst="rect">
            <a:avLst/>
          </a:prstGeom>
          <a:noFill/>
        </p:spPr>
        <p:txBody>
          <a:bodyPr wrap="square">
            <a:spAutoFit/>
          </a:bodyPr>
          <a:lstStyle/>
          <a:p>
            <a:pPr marL="0" indent="0">
              <a:buNone/>
            </a:pPr>
            <a:r>
              <a:rPr lang="en-US" sz="1800" dirty="0">
                <a:latin typeface="Times New Roman" pitchFamily="18" charset="0"/>
                <a:cs typeface="Times New Roman" pitchFamily="18" charset="0"/>
              </a:rPr>
              <a:t>Monthly income appears to be the most important feature followed by the persons age, daily rate, and monthly rate.</a:t>
            </a:r>
          </a:p>
        </p:txBody>
      </p:sp>
    </p:spTree>
    <p:extLst>
      <p:ext uri="{BB962C8B-B14F-4D97-AF65-F5344CB8AC3E}">
        <p14:creationId xmlns:p14="http://schemas.microsoft.com/office/powerpoint/2010/main" val="3572093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2800-D9AA-4029-9279-9283DAE16BAE}"/>
              </a:ext>
            </a:extLst>
          </p:cNvPr>
          <p:cNvSpPr>
            <a:spLocks noGrp="1"/>
          </p:cNvSpPr>
          <p:nvPr>
            <p:ph type="title"/>
          </p:nvPr>
        </p:nvSpPr>
        <p:spPr>
          <a:xfrm>
            <a:off x="2895600" y="404447"/>
            <a:ext cx="5131777" cy="615462"/>
          </a:xfrm>
        </p:spPr>
        <p:txBody>
          <a:bodyPr>
            <a:normAutofit fontScale="90000"/>
          </a:bodyPr>
          <a:lstStyle/>
          <a:p>
            <a:r>
              <a:rPr lang="en-US" dirty="0"/>
              <a:t>CONCLUSION</a:t>
            </a:r>
            <a:endParaRPr lang="en-IN" dirty="0"/>
          </a:p>
        </p:txBody>
      </p:sp>
      <p:sp>
        <p:nvSpPr>
          <p:cNvPr id="3" name="Content Placeholder 2">
            <a:extLst>
              <a:ext uri="{FF2B5EF4-FFF2-40B4-BE49-F238E27FC236}">
                <a16:creationId xmlns:a16="http://schemas.microsoft.com/office/drawing/2014/main" id="{A1EB7D07-0AFD-4C56-9976-32D5370F0894}"/>
              </a:ext>
            </a:extLst>
          </p:cNvPr>
          <p:cNvSpPr>
            <a:spLocks noGrp="1"/>
          </p:cNvSpPr>
          <p:nvPr>
            <p:ph idx="1"/>
          </p:nvPr>
        </p:nvSpPr>
        <p:spPr>
          <a:xfrm>
            <a:off x="650631" y="1846385"/>
            <a:ext cx="11066584" cy="393895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Employee attrition effects in financial, time and effort loss of organizations.</a:t>
            </a:r>
          </a:p>
          <a:p>
            <a:pPr algn="just"/>
            <a:r>
              <a:rPr lang="en-US" dirty="0">
                <a:latin typeface="Times New Roman" panose="02020603050405020304" pitchFamily="18" charset="0"/>
                <a:cs typeface="Times New Roman" panose="02020603050405020304" pitchFamily="18" charset="0"/>
              </a:rPr>
              <a:t>It is a big issue since a trained and experienced employee is difficult to substitute and its cost effective. </a:t>
            </a:r>
          </a:p>
          <a:p>
            <a:pPr algn="just"/>
            <a:r>
              <a:rPr lang="en-US" dirty="0">
                <a:latin typeface="Times New Roman" panose="02020603050405020304" pitchFamily="18" charset="0"/>
                <a:cs typeface="Times New Roman" panose="02020603050405020304" pitchFamily="18" charset="0"/>
              </a:rPr>
              <a:t>We try to find to analyze the past and existing employees information to estimate the future </a:t>
            </a:r>
            <a:r>
              <a:rPr lang="en-US" dirty="0" err="1">
                <a:latin typeface="Times New Roman" panose="02020603050405020304" pitchFamily="18" charset="0"/>
                <a:cs typeface="Times New Roman" panose="02020603050405020304" pitchFamily="18" charset="0"/>
              </a:rPr>
              <a:t>attritioners</a:t>
            </a:r>
            <a:r>
              <a:rPr lang="en-US" dirty="0">
                <a:latin typeface="Times New Roman" panose="02020603050405020304" pitchFamily="18" charset="0"/>
                <a:cs typeface="Times New Roman" panose="02020603050405020304" pitchFamily="18" charset="0"/>
              </a:rPr>
              <a:t> and study the reasons of employee turnover. </a:t>
            </a:r>
          </a:p>
          <a:p>
            <a:pPr algn="just"/>
            <a:r>
              <a:rPr lang="en-US" dirty="0">
                <a:latin typeface="Times New Roman" panose="02020603050405020304" pitchFamily="18" charset="0"/>
                <a:cs typeface="Times New Roman" panose="02020603050405020304" pitchFamily="18" charset="0"/>
              </a:rPr>
              <a:t>The results of this learning describe that data extraction algorithms can be utilized to construct reliable and accurate predictive methods for employee attrition. </a:t>
            </a:r>
          </a:p>
          <a:p>
            <a:pPr algn="just"/>
            <a:r>
              <a:rPr lang="en-US" dirty="0">
                <a:latin typeface="Times New Roman" panose="02020603050405020304" pitchFamily="18" charset="0"/>
                <a:cs typeface="Times New Roman" panose="02020603050405020304" pitchFamily="18" charset="0"/>
              </a:rPr>
              <a:t>The issue of employee attrition identification is not just to depict </a:t>
            </a:r>
            <a:r>
              <a:rPr lang="en-US" dirty="0" err="1">
                <a:latin typeface="Times New Roman" panose="02020603050405020304" pitchFamily="18" charset="0"/>
                <a:cs typeface="Times New Roman" panose="02020603050405020304" pitchFamily="18" charset="0"/>
              </a:rPr>
              <a:t>attritioners</a:t>
            </a:r>
            <a:r>
              <a:rPr lang="en-US" dirty="0">
                <a:latin typeface="Times New Roman" panose="02020603050405020304" pitchFamily="18" charset="0"/>
                <a:cs typeface="Times New Roman" panose="02020603050405020304" pitchFamily="18" charset="0"/>
              </a:rPr>
              <a:t> from no </a:t>
            </a:r>
            <a:r>
              <a:rPr lang="en-US" dirty="0" err="1">
                <a:latin typeface="Times New Roman" panose="02020603050405020304" pitchFamily="18" charset="0"/>
                <a:cs typeface="Times New Roman" panose="02020603050405020304" pitchFamily="18" charset="0"/>
              </a:rPr>
              <a:t>attritioners</a:t>
            </a:r>
            <a:r>
              <a:rPr lang="en-US" dirty="0">
                <a:latin typeface="Times New Roman" panose="02020603050405020304" pitchFamily="18" charset="0"/>
                <a:cs typeface="Times New Roman" panose="02020603050405020304" pitchFamily="18" charset="0"/>
              </a:rPr>
              <a:t> . </a:t>
            </a:r>
          </a:p>
          <a:p>
            <a:pPr algn="just"/>
            <a:r>
              <a:rPr lang="en-US" dirty="0">
                <a:latin typeface="Times New Roman" panose="02020603050405020304" pitchFamily="18" charset="0"/>
                <a:cs typeface="Times New Roman" panose="02020603050405020304" pitchFamily="18" charset="0"/>
              </a:rPr>
              <a:t>By using the tentative data study and data extraction methods, we can depict the attrition probability for each one employee and provide them score to build the retention techniques.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664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IN" dirty="0"/>
          </a:p>
        </p:txBody>
      </p:sp>
      <p:sp>
        <p:nvSpPr>
          <p:cNvPr id="3" name="Content Placeholder 2"/>
          <p:cNvSpPr>
            <a:spLocks noGrp="1"/>
          </p:cNvSpPr>
          <p:nvPr>
            <p:ph idx="1"/>
          </p:nvPr>
        </p:nvSpPr>
        <p:spPr>
          <a:xfrm>
            <a:off x="555356" y="1592456"/>
            <a:ext cx="10972800" cy="4525963"/>
          </a:xfrm>
        </p:spPr>
        <p:txBody>
          <a:bodyPr>
            <a:noAutofit/>
          </a:bodyPr>
          <a:lstStyle/>
          <a:p>
            <a:pPr>
              <a:buFont typeface="+mj-lt"/>
              <a:buAutoNum type="arabicPeriod"/>
            </a:pPr>
            <a:r>
              <a:rPr lang="en-IN" sz="1400" dirty="0" err="1">
                <a:latin typeface="Times New Roman" panose="02020603050405020304" pitchFamily="18" charset="0"/>
                <a:cs typeface="Times New Roman" panose="02020603050405020304" pitchFamily="18" charset="0"/>
              </a:rPr>
              <a:t>Jarrahi</a:t>
            </a:r>
            <a:r>
              <a:rPr lang="en-IN" sz="1400" dirty="0">
                <a:latin typeface="Times New Roman" panose="02020603050405020304" pitchFamily="18" charset="0"/>
                <a:cs typeface="Times New Roman" panose="02020603050405020304" pitchFamily="18" charset="0"/>
              </a:rPr>
              <a:t>, M.H. Artificial intelligence and the future of work: Human-AI symbiosis in organizational decision making. Bus. </a:t>
            </a:r>
            <a:r>
              <a:rPr lang="en-IN" sz="1400" dirty="0" err="1">
                <a:latin typeface="Times New Roman" panose="02020603050405020304" pitchFamily="18" charset="0"/>
                <a:cs typeface="Times New Roman" panose="02020603050405020304" pitchFamily="18" charset="0"/>
              </a:rPr>
              <a:t>Horiz</a:t>
            </a:r>
            <a:r>
              <a:rPr lang="en-IN" sz="1400" dirty="0">
                <a:latin typeface="Times New Roman" panose="02020603050405020304" pitchFamily="18" charset="0"/>
                <a:cs typeface="Times New Roman" panose="02020603050405020304" pitchFamily="18" charset="0"/>
              </a:rPr>
              <a:t>. 2018, 61, 577–586.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 </a:t>
            </a:r>
          </a:p>
          <a:p>
            <a:pPr>
              <a:buFont typeface="+mj-lt"/>
              <a:buAutoNum type="arabicPeriod"/>
            </a:pP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Duan</a:t>
            </a:r>
            <a:r>
              <a:rPr lang="en-IN" sz="1400" dirty="0">
                <a:latin typeface="Times New Roman" panose="02020603050405020304" pitchFamily="18" charset="0"/>
                <a:cs typeface="Times New Roman" panose="02020603050405020304" pitchFamily="18" charset="0"/>
              </a:rPr>
              <a:t>, Y.; Edwards, J.S.; </a:t>
            </a:r>
            <a:r>
              <a:rPr lang="en-IN" sz="1400" dirty="0" err="1">
                <a:latin typeface="Times New Roman" panose="02020603050405020304" pitchFamily="18" charset="0"/>
                <a:cs typeface="Times New Roman" panose="02020603050405020304" pitchFamily="18" charset="0"/>
              </a:rPr>
              <a:t>Dwivedi</a:t>
            </a:r>
            <a:r>
              <a:rPr lang="en-IN" sz="1400" dirty="0">
                <a:latin typeface="Times New Roman" panose="02020603050405020304" pitchFamily="18" charset="0"/>
                <a:cs typeface="Times New Roman" panose="02020603050405020304" pitchFamily="18" charset="0"/>
              </a:rPr>
              <a:t>, Y.K. Artificial intelligence for decision making in the era of Big Data—Evolution, challenges and research agenda. Int. J. Inf. </a:t>
            </a:r>
            <a:r>
              <a:rPr lang="en-IN" sz="1400" dirty="0" err="1">
                <a:latin typeface="Times New Roman" panose="02020603050405020304" pitchFamily="18" charset="0"/>
                <a:cs typeface="Times New Roman" panose="02020603050405020304" pitchFamily="18" charset="0"/>
              </a:rPr>
              <a:t>Manag</a:t>
            </a:r>
            <a:r>
              <a:rPr lang="en-IN" sz="1400" dirty="0">
                <a:latin typeface="Times New Roman" panose="02020603050405020304" pitchFamily="18" charset="0"/>
                <a:cs typeface="Times New Roman" panose="02020603050405020304" pitchFamily="18" charset="0"/>
              </a:rPr>
              <a:t>. 2019, 48, 63–71.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 </a:t>
            </a:r>
          </a:p>
          <a:p>
            <a:pPr>
              <a:buFont typeface="+mj-lt"/>
              <a:buAutoNum type="arabicPeriod"/>
            </a:pP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Fallucchi</a:t>
            </a:r>
            <a:r>
              <a:rPr lang="en-IN" sz="1400" dirty="0">
                <a:latin typeface="Times New Roman" panose="02020603050405020304" pitchFamily="18" charset="0"/>
                <a:cs typeface="Times New Roman" panose="02020603050405020304" pitchFamily="18" charset="0"/>
              </a:rPr>
              <a:t>, F.; </a:t>
            </a:r>
            <a:r>
              <a:rPr lang="en-IN" sz="1400" dirty="0" err="1">
                <a:latin typeface="Times New Roman" panose="02020603050405020304" pitchFamily="18" charset="0"/>
                <a:cs typeface="Times New Roman" panose="02020603050405020304" pitchFamily="18" charset="0"/>
              </a:rPr>
              <a:t>Coladangelo</a:t>
            </a:r>
            <a:r>
              <a:rPr lang="en-IN" sz="1400" dirty="0">
                <a:latin typeface="Times New Roman" panose="02020603050405020304" pitchFamily="18" charset="0"/>
                <a:cs typeface="Times New Roman" panose="02020603050405020304" pitchFamily="18" charset="0"/>
              </a:rPr>
              <a:t>, M.; Giuliano, R.; William De Luca, E. Predicting Employee Attrition Using Machine Learning Techniques. Computers 2020, 9, 86.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a:t>
            </a:r>
          </a:p>
          <a:p>
            <a:pPr>
              <a:buFont typeface="+mj-lt"/>
              <a:buAutoNum type="arabicPeriod"/>
            </a:pP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Zelenski</a:t>
            </a:r>
            <a:r>
              <a:rPr lang="en-IN" sz="1400" dirty="0">
                <a:latin typeface="Times New Roman" panose="02020603050405020304" pitchFamily="18" charset="0"/>
                <a:cs typeface="Times New Roman" panose="02020603050405020304" pitchFamily="18" charset="0"/>
              </a:rPr>
              <a:t>, J.M.; Murphy, S.A.; Jenkins, D.A. The Happy-Productive Worker Thesis Revisited. J. Happiness Stud. 2008, 9, 521–537.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 Computers 2021, 10, 141 11 of 11 </a:t>
            </a:r>
          </a:p>
          <a:p>
            <a:pPr>
              <a:buFont typeface="+mj-lt"/>
              <a:buAutoNum type="arabicPeriod"/>
            </a:pPr>
            <a:r>
              <a:rPr lang="en-IN" sz="1400" dirty="0">
                <a:latin typeface="Times New Roman" panose="02020603050405020304" pitchFamily="18" charset="0"/>
                <a:cs typeface="Times New Roman" panose="02020603050405020304" pitchFamily="18" charset="0"/>
              </a:rPr>
              <a:t>Varian, H.; 16. Artificial Intelligence, Economics, and Industrial Organization. In The Economics of Artificial Intelligence: An Agenda; University of Chicago Press: Chicago, IL, USA, 2019; pp.   399–422. </a:t>
            </a:r>
          </a:p>
          <a:p>
            <a:pPr>
              <a:buFont typeface="+mj-lt"/>
              <a:buAutoNum type="arabicPeriod"/>
            </a:pPr>
            <a:r>
              <a:rPr lang="en-IN" sz="1400" dirty="0" err="1">
                <a:latin typeface="Times New Roman" panose="02020603050405020304" pitchFamily="18" charset="0"/>
                <a:cs typeface="Times New Roman" panose="02020603050405020304" pitchFamily="18" charset="0"/>
              </a:rPr>
              <a:t>Vardarlier</a:t>
            </a:r>
            <a:r>
              <a:rPr lang="en-IN" sz="1400" dirty="0">
                <a:latin typeface="Times New Roman" panose="02020603050405020304" pitchFamily="18" charset="0"/>
                <a:cs typeface="Times New Roman" panose="02020603050405020304" pitchFamily="18" charset="0"/>
              </a:rPr>
              <a:t>, P.; </a:t>
            </a:r>
            <a:r>
              <a:rPr lang="en-IN" sz="1400" dirty="0" err="1">
                <a:latin typeface="Times New Roman" panose="02020603050405020304" pitchFamily="18" charset="0"/>
                <a:cs typeface="Times New Roman" panose="02020603050405020304" pitchFamily="18" charset="0"/>
              </a:rPr>
              <a:t>Zafer</a:t>
            </a:r>
            <a:r>
              <a:rPr lang="en-IN" sz="1400" dirty="0">
                <a:latin typeface="Times New Roman" panose="02020603050405020304" pitchFamily="18" charset="0"/>
                <a:cs typeface="Times New Roman" panose="02020603050405020304" pitchFamily="18" charset="0"/>
              </a:rPr>
              <a:t>, C. Use of artificial intelligence as business strategy in recruitment process and social perspective. In Digital Business Strategies in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 Ecosystems; Springer: Cham, Switzerland, 2020; pp. 355–373.</a:t>
            </a:r>
          </a:p>
          <a:p>
            <a:pPr>
              <a:buFont typeface="+mj-lt"/>
              <a:buAutoNum type="arabicPeriod"/>
            </a:pPr>
            <a:r>
              <a:rPr lang="en-IN" sz="1400" dirty="0" err="1">
                <a:latin typeface="Times New Roman" panose="02020603050405020304" pitchFamily="18" charset="0"/>
                <a:cs typeface="Times New Roman" panose="02020603050405020304" pitchFamily="18" charset="0"/>
              </a:rPr>
              <a:t>Alduayj</a:t>
            </a:r>
            <a:r>
              <a:rPr lang="en-IN" sz="1400" dirty="0">
                <a:latin typeface="Times New Roman" panose="02020603050405020304" pitchFamily="18" charset="0"/>
                <a:cs typeface="Times New Roman" panose="02020603050405020304" pitchFamily="18" charset="0"/>
              </a:rPr>
              <a:t>, S.S.; </a:t>
            </a:r>
            <a:r>
              <a:rPr lang="en-IN" sz="1400" dirty="0" err="1">
                <a:latin typeface="Times New Roman" panose="02020603050405020304" pitchFamily="18" charset="0"/>
                <a:cs typeface="Times New Roman" panose="02020603050405020304" pitchFamily="18" charset="0"/>
              </a:rPr>
              <a:t>Rajpoot</a:t>
            </a:r>
            <a:r>
              <a:rPr lang="en-IN" sz="1400" dirty="0">
                <a:latin typeface="Times New Roman" panose="02020603050405020304" pitchFamily="18" charset="0"/>
                <a:cs typeface="Times New Roman" panose="02020603050405020304" pitchFamily="18" charset="0"/>
              </a:rPr>
              <a:t>, K. Predicting Employee Attrition using Machine Learning. In Proceedings of the 2018 International Conference on Innovations in Information Technology (IIT), Al Ain, United Arab Emirates, 18–19 November 2018; pp. 93–98.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 </a:t>
            </a:r>
          </a:p>
          <a:p>
            <a:pPr>
              <a:buFont typeface="+mj-lt"/>
              <a:buAutoNum type="arabicPeriod"/>
            </a:pPr>
            <a:r>
              <a:rPr lang="en-IN" sz="1400" dirty="0">
                <a:latin typeface="Times New Roman" panose="02020603050405020304" pitchFamily="18" charset="0"/>
                <a:cs typeface="Times New Roman" panose="02020603050405020304" pitchFamily="18" charset="0"/>
              </a:rPr>
              <a:t> Usha, P.M.; </a:t>
            </a:r>
            <a:r>
              <a:rPr lang="en-IN" sz="1400" dirty="0" err="1">
                <a:latin typeface="Times New Roman" panose="02020603050405020304" pitchFamily="18" charset="0"/>
                <a:cs typeface="Times New Roman" panose="02020603050405020304" pitchFamily="18" charset="0"/>
              </a:rPr>
              <a:t>Balaji</a:t>
            </a:r>
            <a:r>
              <a:rPr lang="en-IN" sz="1400" dirty="0">
                <a:latin typeface="Times New Roman" panose="02020603050405020304" pitchFamily="18" charset="0"/>
                <a:cs typeface="Times New Roman" panose="02020603050405020304" pitchFamily="18" charset="0"/>
              </a:rPr>
              <a:t>, N. Analysing employee attrition using machine learning. </a:t>
            </a:r>
            <a:r>
              <a:rPr lang="en-IN" sz="1400" dirty="0" err="1">
                <a:latin typeface="Times New Roman" panose="02020603050405020304" pitchFamily="18" charset="0"/>
                <a:cs typeface="Times New Roman" panose="02020603050405020304" pitchFamily="18" charset="0"/>
              </a:rPr>
              <a:t>Karpagam</a:t>
            </a:r>
            <a:r>
              <a:rPr lang="en-IN" sz="1400" dirty="0">
                <a:latin typeface="Times New Roman" panose="02020603050405020304" pitchFamily="18" charset="0"/>
                <a:cs typeface="Times New Roman" panose="02020603050405020304" pitchFamily="18" charset="0"/>
              </a:rPr>
              <a:t> J. </a:t>
            </a:r>
            <a:r>
              <a:rPr lang="en-IN" sz="1400" dirty="0" err="1">
                <a:latin typeface="Times New Roman" panose="02020603050405020304" pitchFamily="18" charset="0"/>
                <a:cs typeface="Times New Roman" panose="02020603050405020304" pitchFamily="18" charset="0"/>
              </a:rPr>
              <a:t>Comput</a:t>
            </a:r>
            <a:r>
              <a:rPr lang="en-IN" sz="1400" dirty="0">
                <a:latin typeface="Times New Roman" panose="02020603050405020304" pitchFamily="18" charset="0"/>
                <a:cs typeface="Times New Roman" panose="02020603050405020304" pitchFamily="18" charset="0"/>
              </a:rPr>
              <a:t>. Sci. 2019, 13, 277–282. </a:t>
            </a:r>
          </a:p>
          <a:p>
            <a:pPr>
              <a:buFont typeface="+mj-lt"/>
              <a:buAutoNum type="arabicPeriod"/>
            </a:pPr>
            <a:r>
              <a:rPr lang="en-IN" sz="1400" dirty="0" err="1">
                <a:latin typeface="Times New Roman" panose="02020603050405020304" pitchFamily="18" charset="0"/>
                <a:cs typeface="Times New Roman" panose="02020603050405020304" pitchFamily="18" charset="0"/>
              </a:rPr>
              <a:t>Setiawan</a:t>
            </a:r>
            <a:r>
              <a:rPr lang="en-IN" sz="1400" dirty="0">
                <a:latin typeface="Times New Roman" panose="02020603050405020304" pitchFamily="18" charset="0"/>
                <a:cs typeface="Times New Roman" panose="02020603050405020304" pitchFamily="18" charset="0"/>
              </a:rPr>
              <a:t>, I.; </a:t>
            </a:r>
            <a:r>
              <a:rPr lang="en-IN" sz="1400" dirty="0" err="1">
                <a:latin typeface="Times New Roman" panose="02020603050405020304" pitchFamily="18" charset="0"/>
                <a:cs typeface="Times New Roman" panose="02020603050405020304" pitchFamily="18" charset="0"/>
              </a:rPr>
              <a:t>Suprihanto</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Nugraha</a:t>
            </a:r>
            <a:r>
              <a:rPr lang="en-IN" sz="1400" dirty="0">
                <a:latin typeface="Times New Roman" panose="02020603050405020304" pitchFamily="18" charset="0"/>
                <a:cs typeface="Times New Roman" panose="02020603050405020304" pitchFamily="18" charset="0"/>
              </a:rPr>
              <a:t>, A.; </a:t>
            </a:r>
            <a:r>
              <a:rPr lang="en-IN" sz="1400" dirty="0" err="1">
                <a:latin typeface="Times New Roman" panose="02020603050405020304" pitchFamily="18" charset="0"/>
                <a:cs typeface="Times New Roman" panose="02020603050405020304" pitchFamily="18" charset="0"/>
              </a:rPr>
              <a:t>Hutahaean</a:t>
            </a:r>
            <a:r>
              <a:rPr lang="en-IN" sz="1400" dirty="0">
                <a:latin typeface="Times New Roman" panose="02020603050405020304" pitchFamily="18" charset="0"/>
                <a:cs typeface="Times New Roman" panose="02020603050405020304" pitchFamily="18" charset="0"/>
              </a:rPr>
              <a:t>, J. HR analytics: Employee attrition analysis using logistic regression. In IOP Conference Series: Materials Science and Engineering; IOP Publishing: Bandung, Indonesia, 2020; Volume 830, p. 032001. </a:t>
            </a:r>
          </a:p>
          <a:p>
            <a:pPr>
              <a:buFont typeface="+mj-lt"/>
              <a:buAutoNum type="arabicPeriod"/>
            </a:pPr>
            <a:r>
              <a:rPr lang="en-IN" sz="1400" dirty="0" err="1">
                <a:latin typeface="Times New Roman" panose="02020603050405020304" pitchFamily="18" charset="0"/>
                <a:cs typeface="Times New Roman" panose="02020603050405020304" pitchFamily="18" charset="0"/>
              </a:rPr>
              <a:t>Rupa</a:t>
            </a:r>
            <a:r>
              <a:rPr lang="en-IN" sz="1400" dirty="0">
                <a:latin typeface="Times New Roman" panose="02020603050405020304" pitchFamily="18" charset="0"/>
                <a:cs typeface="Times New Roman" panose="02020603050405020304" pitchFamily="18" charset="0"/>
              </a:rPr>
              <a:t> Chatterjee Das, A.D.S. Conceptualizing the Importance of HR Analytics in Attrition Reduction. Int. Res. J. Adv. Sci. Hub 2020, 2, 40–48. [</a:t>
            </a:r>
            <a:r>
              <a:rPr lang="en-IN" sz="1400" dirty="0" err="1">
                <a:latin typeface="Times New Roman" panose="02020603050405020304" pitchFamily="18" charset="0"/>
                <a:cs typeface="Times New Roman" panose="02020603050405020304" pitchFamily="18" charset="0"/>
              </a:rPr>
              <a:t>CrossRef</a:t>
            </a:r>
            <a:r>
              <a:rPr lang="en-IN" sz="1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810239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D3AA0-DD97-4835-A007-8F0A0C927092}"/>
              </a:ext>
            </a:extLst>
          </p:cNvPr>
          <p:cNvSpPr>
            <a:spLocks noGrp="1"/>
          </p:cNvSpPr>
          <p:nvPr>
            <p:ph type="title"/>
          </p:nvPr>
        </p:nvSpPr>
        <p:spPr>
          <a:xfrm>
            <a:off x="2895600" y="764373"/>
            <a:ext cx="5448300" cy="677565"/>
          </a:xfrm>
        </p:spPr>
        <p:txBody>
          <a:bodyPr>
            <a:normAutofit fontScale="90000"/>
          </a:bodyPr>
          <a:lstStyle/>
          <a:p>
            <a:r>
              <a:rPr lang="en-US" dirty="0"/>
              <a:t>FUTURE SCOPE</a:t>
            </a:r>
            <a:endParaRPr lang="en-IN" dirty="0"/>
          </a:p>
        </p:txBody>
      </p:sp>
      <p:sp>
        <p:nvSpPr>
          <p:cNvPr id="3" name="Content Placeholder 2">
            <a:extLst>
              <a:ext uri="{FF2B5EF4-FFF2-40B4-BE49-F238E27FC236}">
                <a16:creationId xmlns:a16="http://schemas.microsoft.com/office/drawing/2014/main" id="{E986C994-AA0C-4632-B091-D9E7DDB40488}"/>
              </a:ext>
            </a:extLst>
          </p:cNvPr>
          <p:cNvSpPr>
            <a:spLocks noGrp="1"/>
          </p:cNvSpPr>
          <p:nvPr>
            <p:ph idx="1"/>
          </p:nvPr>
        </p:nvSpPr>
        <p:spPr>
          <a:xfrm>
            <a:off x="1380392" y="2567354"/>
            <a:ext cx="10125808" cy="1696915"/>
          </a:xfrm>
        </p:spPr>
        <p:txBody>
          <a:bodyPr>
            <a:normAutofit fontScale="70000" lnSpcReduction="20000"/>
          </a:bodyPr>
          <a:lstStyle/>
          <a:p>
            <a:pPr algn="just"/>
            <a:r>
              <a:rPr lang="en-IN" dirty="0">
                <a:latin typeface="Times New Roman" panose="02020603050405020304" pitchFamily="18" charset="0"/>
                <a:cs typeface="Times New Roman" panose="02020603050405020304" pitchFamily="18" charset="0"/>
              </a:rPr>
              <a:t>Predicting the reason that cause the employee to be attrite using psychological factors before attrition is highly effective than predicting the reason for the employee’s attrition after attrition.</a:t>
            </a:r>
          </a:p>
          <a:p>
            <a:pPr algn="just"/>
            <a:r>
              <a:rPr lang="en-IN" dirty="0">
                <a:latin typeface="Times New Roman" panose="02020603050405020304" pitchFamily="18" charset="0"/>
                <a:cs typeface="Times New Roman" panose="02020603050405020304" pitchFamily="18" charset="0"/>
              </a:rPr>
              <a:t>So in future, the  project works on collecting  employee’s psychological factors that may help the company to decide whether to retain the employee or not .</a:t>
            </a:r>
          </a:p>
          <a:p>
            <a:pPr marL="0" indent="0">
              <a:buNone/>
            </a:pPr>
            <a:endParaRPr lang="en-IN" dirty="0"/>
          </a:p>
        </p:txBody>
      </p:sp>
    </p:spTree>
    <p:extLst>
      <p:ext uri="{BB962C8B-B14F-4D97-AF65-F5344CB8AC3E}">
        <p14:creationId xmlns:p14="http://schemas.microsoft.com/office/powerpoint/2010/main" val="660355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601</TotalTime>
  <Words>2234</Words>
  <Application>Microsoft Office PowerPoint</Application>
  <PresentationFormat>Widescreen</PresentationFormat>
  <Paragraphs>205</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charter</vt:lpstr>
      <vt:lpstr>Times New Roman</vt:lpstr>
      <vt:lpstr>Office Theme</vt:lpstr>
      <vt:lpstr>PREDICTION OF EMPLOYEE ATTRITION USING MACHINE LEARNING &amp; PYTHON</vt:lpstr>
      <vt:lpstr>PROBLEM STATEMENT</vt:lpstr>
      <vt:lpstr>ABSTRACT</vt:lpstr>
      <vt:lpstr>INTRODUCTION</vt:lpstr>
      <vt:lpstr>1.HOW TO REDUCE EMPLOYEE CHURN?</vt:lpstr>
      <vt:lpstr>LITERATURE SURVEY</vt:lpstr>
      <vt:lpstr>EXISTING SYSTEM</vt:lpstr>
      <vt:lpstr>PROPOSED SYSTEM</vt:lpstr>
      <vt:lpstr>RANDOM FOREST ALGORITHM</vt:lpstr>
      <vt:lpstr>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Architecture</vt:lpstr>
      <vt:lpstr>SYSTEM DESIGN</vt:lpstr>
      <vt:lpstr>DATAFLOW DIAGRAM</vt:lpstr>
      <vt:lpstr>USE CASE DIAGRAM</vt:lpstr>
      <vt:lpstr>CLASS DIAGRAM</vt:lpstr>
      <vt:lpstr>HARDWARE AND SOFTWARE REQUIREMENTS </vt:lpstr>
      <vt:lpstr>PERFORMANCE EVALUATION</vt:lpstr>
      <vt:lpstr>SCREENSHOT</vt:lpstr>
      <vt:lpstr>CONCLUSION</vt:lpstr>
      <vt:lpstr>REFERENCES</vt:lpstr>
      <vt:lpstr>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EMPLOYEE ATTRITION USING MACHINE LEARNING</dc:title>
  <dc:creator>S Kavya</dc:creator>
  <cp:lastModifiedBy>S Kavya</cp:lastModifiedBy>
  <cp:revision>33</cp:revision>
  <dcterms:created xsi:type="dcterms:W3CDTF">2022-04-12T13:30:31Z</dcterms:created>
  <dcterms:modified xsi:type="dcterms:W3CDTF">2022-05-28T10:09:46Z</dcterms:modified>
</cp:coreProperties>
</file>